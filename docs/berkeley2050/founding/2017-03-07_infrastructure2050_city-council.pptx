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315" r:id="rId3"/>
    <p:sldId id="307" r:id="rId4"/>
    <p:sldId id="288" r:id="rId5"/>
    <p:sldId id="313" r:id="rId6"/>
    <p:sldId id="261" r:id="rId7"/>
    <p:sldId id="260" r:id="rId8"/>
    <p:sldId id="262" r:id="rId9"/>
    <p:sldId id="311" r:id="rId10"/>
    <p:sldId id="276" r:id="rId11"/>
    <p:sldId id="270" r:id="rId12"/>
    <p:sldId id="303" r:id="rId13"/>
    <p:sldId id="317" r:id="rId14"/>
    <p:sldId id="277" r:id="rId15"/>
    <p:sldId id="275" r:id="rId16"/>
    <p:sldId id="304" r:id="rId17"/>
    <p:sldId id="290" r:id="rId18"/>
    <p:sldId id="289" r:id="rId19"/>
    <p:sldId id="299" r:id="rId20"/>
    <p:sldId id="28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04"/>
    <p:restoredTop sz="94677"/>
  </p:normalViewPr>
  <p:slideViewPr>
    <p:cSldViewPr snapToGrid="0" snapToObjects="1">
      <p:cViewPr varScale="1">
        <p:scale>
          <a:sx n="168" d="100"/>
          <a:sy n="168" d="100"/>
        </p:scale>
        <p:origin x="448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62" d="100"/>
        <a:sy n="162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87E46-B92F-A04B-844A-3693F2B2CD2C}" type="datetimeFigureOut">
              <a:rPr lang="en-US" smtClean="0"/>
              <a:t>3/6/17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EE093-86F6-C84F-970F-6B68D306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18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</a:t>
            </a:r>
            <a:r>
              <a:rPr lang="en-US" baseline="0" dirty="0" smtClean="0"/>
              <a:t> the last six months, John Gage and I have been brainstorming on how to meet the challenge of creating a 21</a:t>
            </a:r>
            <a:r>
              <a:rPr lang="en-US" baseline="30000" dirty="0" smtClean="0"/>
              <a:t>st</a:t>
            </a:r>
            <a:r>
              <a:rPr lang="en-US" baseline="0" dirty="0" smtClean="0"/>
              <a:t> Century infrastructure for Berkeley.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69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Road Map for Climate Action</a:t>
            </a:r>
          </a:p>
          <a:p>
            <a:r>
              <a:rPr lang="en-US" dirty="0" smtClean="0"/>
              <a:t>No Road Map for Infrastructure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75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Infrastructure Needs are HUGE?</a:t>
            </a:r>
          </a:p>
          <a:p>
            <a:r>
              <a:rPr lang="en-US" dirty="0" smtClean="0"/>
              <a:t>	Red Ink overwhelms the black Ink.</a:t>
            </a:r>
          </a:p>
          <a:p>
            <a:r>
              <a:rPr lang="en-US" dirty="0" smtClean="0"/>
              <a:t>	Need a Long term Infrastructure</a:t>
            </a:r>
            <a:r>
              <a:rPr lang="en-US" baseline="0" dirty="0" smtClean="0"/>
              <a:t> Plan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52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If Berkeley could dedicate ~$30+ million/year fro the next 30+ years, we could</a:t>
            </a:r>
            <a:r>
              <a:rPr lang="en-US" baseline="0" dirty="0" smtClean="0"/>
              <a:t> build a modern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15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Two main finance</a:t>
            </a:r>
            <a:r>
              <a:rPr lang="en-US" baseline="0" dirty="0" smtClean="0"/>
              <a:t> mechanisms</a:t>
            </a:r>
            <a:endParaRPr lang="en-US" dirty="0" smtClean="0"/>
          </a:p>
          <a:p>
            <a:r>
              <a:rPr lang="en-US" dirty="0" smtClean="0"/>
              <a:t>	GO Bonds ($92M) -&gt;</a:t>
            </a:r>
            <a:r>
              <a:rPr lang="en-US" baseline="0" dirty="0" smtClean="0"/>
              <a:t> interest &amp; principal are paid by a tax on real property – vote – appears on property tax bill</a:t>
            </a:r>
          </a:p>
          <a:p>
            <a:r>
              <a:rPr lang="en-US" baseline="0" dirty="0" smtClean="0"/>
              <a:t>	Revenue Bonds($42M) -&gt; secured by a revenue stream – e.g. parking revenue from garage.</a:t>
            </a:r>
          </a:p>
          <a:p>
            <a:r>
              <a:rPr lang="en-US" dirty="0" smtClean="0"/>
              <a:t>Both - Similar</a:t>
            </a:r>
            <a:r>
              <a:rPr lang="en-US" baseline="0" dirty="0" smtClean="0"/>
              <a:t> to fixed rate mortgages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8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Take</a:t>
            </a:r>
            <a:r>
              <a:rPr lang="en-US" baseline="0" dirty="0" smtClean="0"/>
              <a:t> on debt during low-interest rate periods.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03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Taking</a:t>
            </a:r>
            <a:r>
              <a:rPr lang="en-US" baseline="0" dirty="0" smtClean="0"/>
              <a:t> Advantage of low interest rates, </a:t>
            </a:r>
          </a:p>
          <a:p>
            <a:r>
              <a:rPr lang="en-US" baseline="0" dirty="0" smtClean="0"/>
              <a:t>	the COB refinanced ~$93  million in higher interest rate bonds, lowering the cost to the property owners.</a:t>
            </a:r>
          </a:p>
          <a:p>
            <a:r>
              <a:rPr lang="en-US" baseline="0" dirty="0" smtClean="0"/>
              <a:t>Assessed Property Values doubled in the last 15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41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Little Known</a:t>
            </a:r>
            <a:r>
              <a:rPr lang="en-US" baseline="0" dirty="0" smtClean="0"/>
              <a:t> Fact – COB’s Debt Service Rate has decreased by over 48%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0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While some taxpayers may applaud the City for reducing its taxes, </a:t>
            </a:r>
          </a:p>
          <a:p>
            <a:r>
              <a:rPr lang="en-US" baseline="0" dirty="0" smtClean="0"/>
              <a:t>I believe that the BUSD approach of keeping the Debt service rate ~constant is the better long term approach to financing capital projects.</a:t>
            </a:r>
          </a:p>
          <a:p>
            <a:r>
              <a:rPr lang="en-US" baseline="0" dirty="0" smtClean="0"/>
              <a:t>MEASURE T1 will increase Debt Service 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98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Berkeley</a:t>
            </a:r>
            <a:r>
              <a:rPr lang="en-US" baseline="0" dirty="0" smtClean="0"/>
              <a:t> and other East Bay Cities have reached a settlement with the EPA to upgrade their sewer lines to stop releasing raw sewage in the Bay during storms.</a:t>
            </a:r>
          </a:p>
          <a:p>
            <a:r>
              <a:rPr lang="en-US" baseline="0" dirty="0" smtClean="0"/>
              <a:t>During storms the water flow in the sewer lines can be 10 – 15x normal. Overwhelms EBMUD treatment plant.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76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smtClean="0"/>
              <a:t>Raise</a:t>
            </a:r>
            <a:r>
              <a:rPr lang="en-US" baseline="0" dirty="0" smtClean="0"/>
              <a:t> fees to cover shortfall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Use existing revenue stream to fund a Revenue Bonds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59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Rainwater</a:t>
            </a:r>
            <a:r>
              <a:rPr lang="en-US" baseline="0" dirty="0" smtClean="0"/>
              <a:t> Retention systems </a:t>
            </a:r>
            <a:r>
              <a:rPr lang="en-US" baseline="0" dirty="0" smtClean="0">
                <a:sym typeface="Wingdings"/>
              </a:rPr>
              <a:t> mitigate drought &amp; flooding</a:t>
            </a:r>
          </a:p>
          <a:p>
            <a:r>
              <a:rPr lang="en-US" baseline="0" dirty="0" smtClean="0">
                <a:sym typeface="Wingdings"/>
              </a:rPr>
              <a:t>Permeable surfaces  reduce flooding and recharge local aquifers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92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Power Outages</a:t>
            </a:r>
            <a:r>
              <a:rPr lang="en-US" baseline="0" dirty="0" smtClean="0"/>
              <a:t>: Dec 2016 and Feb 2017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5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ym typeface="Wingdings"/>
              </a:rPr>
              <a:t>$135</a:t>
            </a:r>
            <a:r>
              <a:rPr lang="en-US" baseline="0" dirty="0" smtClean="0">
                <a:sym typeface="Wingdings"/>
              </a:rPr>
              <a:t> million for Arterials and Collectors – 2.5% UUT increase</a:t>
            </a:r>
          </a:p>
          <a:p>
            <a:r>
              <a:rPr lang="en-US" baseline="0" dirty="0" smtClean="0">
                <a:sym typeface="Wingdings"/>
              </a:rPr>
              <a:t>$600 million for residential streets – dedicate 2.5% of existing UUT</a:t>
            </a:r>
            <a:endParaRPr lang="en-US" dirty="0" smtClean="0">
              <a:sym typeface="Wingdings"/>
            </a:endParaRPr>
          </a:p>
          <a:p>
            <a:r>
              <a:rPr lang="en-US" dirty="0" smtClean="0">
                <a:sym typeface="Wingdings"/>
              </a:rPr>
              <a:t>Work with PG&amp;E and other utilities for cost sharing</a:t>
            </a:r>
          </a:p>
          <a:p>
            <a:endParaRPr lang="en-US" dirty="0" smtClean="0">
              <a:sym typeface="Wingdings"/>
            </a:endParaRPr>
          </a:p>
          <a:p>
            <a:r>
              <a:rPr lang="en-US" dirty="0" smtClean="0">
                <a:sym typeface="Wingdings"/>
              </a:rPr>
              <a:t>Install conduit and fiber optic cable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30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0.5% of sale price can be used to finance seismic improvements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9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3/6/17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11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3/6/17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5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3/6/17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9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3/6/17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60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3/6/17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62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3/6/17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3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3/6/17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87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3/6/17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44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3/6/17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02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3/6/17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20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3/6/17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78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4A08-C7D9-FD41-BF72-84B36DACBD6E}" type="datetimeFigureOut">
              <a:rPr lang="en-US" smtClean="0"/>
              <a:t>3/6/17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12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4" Type="http://schemas.openxmlformats.org/officeDocument/2006/relationships/image" Target="../media/image8.emf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2931"/>
          </a:xfrm>
        </p:spPr>
        <p:txBody>
          <a:bodyPr/>
          <a:lstStyle/>
          <a:p>
            <a:r>
              <a:rPr lang="en-US" smtClean="0"/>
              <a:t> </a:t>
            </a:r>
            <a:r>
              <a:rPr lang="en-US" smtClean="0">
                <a:solidFill>
                  <a:srgbClr val="7030A0"/>
                </a:solidFill>
              </a:rPr>
              <a:t>Infrastructure2050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79331"/>
          </a:xfrm>
        </p:spPr>
        <p:txBody>
          <a:bodyPr>
            <a:normAutofit lnSpcReduction="10000"/>
          </a:bodyPr>
          <a:lstStyle/>
          <a:p>
            <a:r>
              <a:rPr lang="en-US" sz="3600" dirty="0" smtClean="0"/>
              <a:t>New Infrastructure </a:t>
            </a:r>
          </a:p>
          <a:p>
            <a:r>
              <a:rPr lang="en-US" sz="3600" dirty="0" smtClean="0"/>
              <a:t> </a:t>
            </a:r>
          </a:p>
          <a:p>
            <a:r>
              <a:rPr lang="en-US" sz="3600" dirty="0" smtClean="0"/>
              <a:t>Climate Action Goals                    Resilience Goals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2409091" y="5679831"/>
            <a:ext cx="6471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B0F0"/>
                </a:solidFill>
              </a:rPr>
              <a:t>John Gage &amp; Gordon Wozniak</a:t>
            </a:r>
          </a:p>
          <a:p>
            <a:pPr algn="ctr"/>
            <a:r>
              <a:rPr lang="en-US" sz="2400" dirty="0" smtClean="0">
                <a:solidFill>
                  <a:srgbClr val="00B0F0"/>
                </a:solidFill>
              </a:rPr>
              <a:t>March 7, 2017</a:t>
            </a:r>
            <a:endParaRPr lang="en-US" sz="2400" dirty="0">
              <a:solidFill>
                <a:srgbClr val="00B0F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243263" y="3929063"/>
            <a:ext cx="1450181" cy="6121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7093744" y="3879056"/>
            <a:ext cx="1786486" cy="7286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414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880783" y="4254039"/>
            <a:ext cx="46595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Berkeley Infrastructure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3200" dirty="0" smtClean="0"/>
              <a:t>No Goal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3200" dirty="0" smtClean="0"/>
              <a:t>No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783" y="430306"/>
            <a:ext cx="467527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Climate Action 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 smtClean="0"/>
              <a:t>2050 Goal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 smtClean="0"/>
              <a:t>Reduce GHGs by 80%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 smtClean="0"/>
              <a:t>Progress</a:t>
            </a:r>
            <a:endParaRPr lang="en-US" sz="2400" dirty="0"/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 smtClean="0"/>
              <a:t>Limited Funding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190" y="3607340"/>
            <a:ext cx="4948372" cy="32506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105" y="128425"/>
            <a:ext cx="3044041" cy="334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9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445001" y="4917803"/>
            <a:ext cx="1384302" cy="136071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</a:t>
            </a:r>
          </a:p>
          <a:p>
            <a:pPr algn="ctr"/>
            <a:r>
              <a:rPr lang="en-US" dirty="0" smtClean="0"/>
              <a:t>$100M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70114" y="3846285"/>
            <a:ext cx="3345543" cy="282302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COB Identified Capital Needs</a:t>
            </a:r>
          </a:p>
          <a:p>
            <a:pPr algn="ctr"/>
            <a:r>
              <a:rPr lang="en-US" dirty="0" smtClean="0"/>
              <a:t>~$400M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7296079" y="1026159"/>
            <a:ext cx="4464845" cy="32889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Undergrounding Utilities</a:t>
            </a:r>
          </a:p>
          <a:p>
            <a:pPr algn="ctr"/>
            <a:r>
              <a:rPr lang="en-US" dirty="0" smtClean="0"/>
              <a:t>$740M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78971" y="1367971"/>
            <a:ext cx="2663371" cy="21553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Flooding &amp; Drought</a:t>
            </a:r>
          </a:p>
          <a:p>
            <a:pPr algn="ctr"/>
            <a:r>
              <a:rPr lang="en-US" dirty="0" smtClean="0"/>
              <a:t>&gt;$200M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8072718" y="4484189"/>
            <a:ext cx="2728686" cy="22279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Resilience</a:t>
            </a:r>
          </a:p>
          <a:p>
            <a:pPr algn="ctr"/>
            <a:r>
              <a:rPr lang="en-US" dirty="0" smtClean="0"/>
              <a:t>$XXX M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828800" y="134471"/>
            <a:ext cx="68275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INFRASTRUCTURE NEEDS</a:t>
            </a:r>
          </a:p>
          <a:p>
            <a:pPr algn="ctr"/>
            <a:r>
              <a:rPr lang="en-US" sz="4000" dirty="0" smtClean="0"/>
              <a:t>&gt; $1 Billion</a:t>
            </a:r>
            <a:endParaRPr lang="en-US" sz="4000" dirty="0"/>
          </a:p>
        </p:txBody>
      </p:sp>
      <p:sp>
        <p:nvSpPr>
          <p:cNvPr id="10" name="Oval 9"/>
          <p:cNvSpPr/>
          <p:nvPr/>
        </p:nvSpPr>
        <p:spPr>
          <a:xfrm>
            <a:off x="3974192" y="1498757"/>
            <a:ext cx="2198915" cy="169817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Transportation</a:t>
            </a:r>
          </a:p>
          <a:p>
            <a:pPr algn="ctr"/>
            <a:r>
              <a:rPr lang="en-US" dirty="0" smtClean="0"/>
              <a:t>$XXX M</a:t>
            </a:r>
            <a:endParaRPr lang="en-US" dirty="0"/>
          </a:p>
        </p:txBody>
      </p:sp>
      <p:sp>
        <p:nvSpPr>
          <p:cNvPr id="2" name="Oval 1"/>
          <p:cNvSpPr/>
          <p:nvPr/>
        </p:nvSpPr>
        <p:spPr>
          <a:xfrm>
            <a:off x="4445001" y="3542262"/>
            <a:ext cx="1320800" cy="94192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Parking  $36M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14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27203" y="4456287"/>
            <a:ext cx="5166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7030A0"/>
                </a:solidFill>
              </a:rPr>
              <a:t>FY2015 </a:t>
            </a:r>
            <a:r>
              <a:rPr lang="en-US" sz="4000" dirty="0" smtClean="0">
                <a:solidFill>
                  <a:srgbClr val="7030A0"/>
                </a:solidFill>
                <a:sym typeface="Wingdings"/>
              </a:rPr>
              <a:t> FY2050</a:t>
            </a:r>
            <a:endParaRPr lang="en-US" sz="4000" dirty="0">
              <a:solidFill>
                <a:srgbClr val="7030A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05" y="1437144"/>
            <a:ext cx="9658351" cy="27506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6686" y="421481"/>
            <a:ext cx="9933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solidFill>
                  <a:srgbClr val="7030A0"/>
                </a:solidFill>
              </a:rPr>
              <a:t>Think Long Term &amp; Plan!</a:t>
            </a:r>
            <a:endParaRPr lang="en-US" sz="6000" dirty="0">
              <a:solidFill>
                <a:srgbClr val="7030A0"/>
              </a:solidFill>
            </a:endParaRPr>
          </a:p>
        </p:txBody>
      </p:sp>
      <p:sp>
        <p:nvSpPr>
          <p:cNvPr id="8" name="Frame 7"/>
          <p:cNvSpPr/>
          <p:nvPr/>
        </p:nvSpPr>
        <p:spPr>
          <a:xfrm>
            <a:off x="1140824" y="3169920"/>
            <a:ext cx="8151222" cy="470263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33897" y="5223777"/>
            <a:ext cx="710619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$1050 Million</a:t>
            </a:r>
            <a:endParaRPr lang="en-US" sz="3600" dirty="0"/>
          </a:p>
        </p:txBody>
      </p:sp>
      <p:sp>
        <p:nvSpPr>
          <p:cNvPr id="10" name="TextBox 9"/>
          <p:cNvSpPr txBox="1"/>
          <p:nvPr/>
        </p:nvSpPr>
        <p:spPr>
          <a:xfrm>
            <a:off x="696686" y="5599611"/>
            <a:ext cx="1271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$30M/</a:t>
            </a:r>
            <a:r>
              <a:rPr lang="en-US" sz="2400" dirty="0" err="1" smtClean="0"/>
              <a:t>yr</a:t>
            </a:r>
            <a:endParaRPr lang="en-US" sz="2400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151017" y="5223777"/>
            <a:ext cx="0" cy="9144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79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63161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/>
              <a:t>How Does Berkeley Finance Capital Projects?</a:t>
            </a:r>
            <a:endParaRPr lang="en-US" sz="40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264518" y="1681163"/>
            <a:ext cx="5733058" cy="513397"/>
          </a:xfrm>
        </p:spPr>
        <p:txBody>
          <a:bodyPr>
            <a:noAutofit/>
          </a:bodyPr>
          <a:lstStyle/>
          <a:p>
            <a:pPr algn="ctr"/>
            <a:r>
              <a:rPr lang="en-US" dirty="0" smtClean="0"/>
              <a:t>General Obligation Bonds – Tax on Property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513397"/>
          </a:xfrm>
        </p:spPr>
        <p:txBody>
          <a:bodyPr/>
          <a:lstStyle/>
          <a:p>
            <a:pPr algn="ctr"/>
            <a:r>
              <a:rPr lang="en-US" dirty="0" smtClean="0"/>
              <a:t>Revenue Bonds – revenue stream</a:t>
            </a:r>
            <a:endParaRPr lang="en-US" dirty="0"/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913" y="2505076"/>
            <a:ext cx="5015075" cy="3951706"/>
          </a:xfrm>
        </p:spPr>
      </p:pic>
      <p:pic>
        <p:nvPicPr>
          <p:cNvPr id="15" name="Content Placeholder 14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27" y="2505076"/>
            <a:ext cx="5929039" cy="3951704"/>
          </a:xfrm>
        </p:spPr>
      </p:pic>
    </p:spTree>
    <p:extLst>
      <p:ext uri="{BB962C8B-B14F-4D97-AF65-F5344CB8AC3E}">
        <p14:creationId xmlns:p14="http://schemas.microsoft.com/office/powerpoint/2010/main" val="36742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/>
          <a:lstStyle/>
          <a:p>
            <a:pPr algn="ctr"/>
            <a:r>
              <a:rPr lang="en-US" dirty="0" smtClean="0"/>
              <a:t>To Bond or Not to Bond?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2" y="1587500"/>
            <a:ext cx="11865257" cy="4787899"/>
          </a:xfrm>
        </p:spPr>
      </p:pic>
    </p:spTree>
    <p:extLst>
      <p:ext uri="{BB962C8B-B14F-4D97-AF65-F5344CB8AC3E}">
        <p14:creationId xmlns:p14="http://schemas.microsoft.com/office/powerpoint/2010/main" val="197144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196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/>
              <a:t>From 2000 – 2016, Berkeley issued $62 Million in New Bonds </a:t>
            </a:r>
            <a:br>
              <a:rPr lang="en-US" sz="3600" dirty="0" smtClean="0"/>
            </a:br>
            <a:r>
              <a:rPr lang="en-US" sz="3600" dirty="0" smtClean="0">
                <a:solidFill>
                  <a:srgbClr val="7030A0"/>
                </a:solidFill>
              </a:rPr>
              <a:t>Did its Debt Service Tax Rate go up or down?</a:t>
            </a:r>
            <a:endParaRPr lang="en-US" sz="3600" dirty="0">
              <a:solidFill>
                <a:srgbClr val="7030A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9" t="11524" r="4117" b="1324"/>
          <a:stretch/>
        </p:blipFill>
        <p:spPr>
          <a:xfrm>
            <a:off x="228600" y="1896534"/>
            <a:ext cx="5706902" cy="37084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0" t="13081" r="7645" b="14460"/>
          <a:stretch/>
        </p:blipFill>
        <p:spPr>
          <a:xfrm>
            <a:off x="6079067" y="1896534"/>
            <a:ext cx="5969000" cy="3969911"/>
          </a:xfrm>
        </p:spPr>
      </p:pic>
    </p:spTree>
    <p:extLst>
      <p:ext uri="{BB962C8B-B14F-4D97-AF65-F5344CB8AC3E}">
        <p14:creationId xmlns:p14="http://schemas.microsoft.com/office/powerpoint/2010/main" val="210879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9013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/>
              <a:t>Comparison Taxes and Tax Rates for 2000/1 to 2016/17</a:t>
            </a:r>
            <a:br>
              <a:rPr lang="en-US" sz="4000" dirty="0" smtClean="0"/>
            </a:br>
            <a:r>
              <a:rPr lang="en-US" sz="4000" dirty="0" smtClean="0"/>
              <a:t>(141 Parkside Drive)</a:t>
            </a:r>
            <a:endParaRPr lang="en-US" sz="4000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27183"/>
              </p:ext>
            </p:extLst>
          </p:nvPr>
        </p:nvGraphicFramePr>
        <p:xfrm>
          <a:off x="838200" y="2208180"/>
          <a:ext cx="10515600" cy="3697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1232790">
                <a:tc>
                  <a:txBody>
                    <a:bodyPr/>
                    <a:lstStyle/>
                    <a:p>
                      <a:r>
                        <a:rPr lang="en-US" sz="2400" smtClean="0"/>
                        <a:t>Year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/>
                        <a:t>Countywide</a:t>
                      </a:r>
                      <a:r>
                        <a:rPr lang="en-US" sz="2400" baseline="0" smtClean="0"/>
                        <a:t> </a:t>
                      </a:r>
                      <a:r>
                        <a:rPr lang="en-US" sz="2400" smtClean="0"/>
                        <a:t>Property</a:t>
                      </a:r>
                      <a:r>
                        <a:rPr lang="en-US" sz="2400" baseline="0" smtClean="0"/>
                        <a:t> Tax based on AV</a:t>
                      </a:r>
                      <a:r>
                        <a:rPr lang="en-US" sz="2400" smtClean="0"/>
                        <a:t> ($)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/>
                        <a:t>COB Tax Rate</a:t>
                      </a:r>
                    </a:p>
                    <a:p>
                      <a:r>
                        <a:rPr lang="en-US" sz="2400" smtClean="0"/>
                        <a:t>(%)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/>
                        <a:t>COB Tax Amount ($)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/>
                        <a:t>BUSD Tax Rate</a:t>
                      </a:r>
                    </a:p>
                    <a:p>
                      <a:r>
                        <a:rPr lang="en-US" sz="2400" smtClean="0"/>
                        <a:t>(%)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/>
                        <a:t>BUSD</a:t>
                      </a:r>
                      <a:r>
                        <a:rPr lang="en-US" sz="2400" baseline="0" smtClean="0"/>
                        <a:t> Tax Amount ($)</a:t>
                      </a:r>
                      <a:endParaRPr lang="en-US" sz="2400"/>
                    </a:p>
                  </a:txBody>
                  <a:tcPr/>
                </a:tc>
              </a:tr>
              <a:tr h="714236">
                <a:tc>
                  <a:txBody>
                    <a:bodyPr/>
                    <a:lstStyle/>
                    <a:p>
                      <a:r>
                        <a:rPr lang="en-US" sz="2400" smtClean="0"/>
                        <a:t>2000/1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/>
                        <a:t>$5,369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/>
                        <a:t>0.0867%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$465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/>
                        <a:t>0.1250%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/>
                        <a:t>$671</a:t>
                      </a:r>
                      <a:endParaRPr lang="en-US" sz="2400"/>
                    </a:p>
                  </a:txBody>
                  <a:tcPr/>
                </a:tc>
              </a:tr>
              <a:tr h="714236">
                <a:tc>
                  <a:txBody>
                    <a:bodyPr/>
                    <a:lstStyle/>
                    <a:p>
                      <a:r>
                        <a:rPr lang="en-US" sz="2400" smtClean="0"/>
                        <a:t>2016/17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/>
                        <a:t>$6,991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/>
                        <a:t>0.0445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00B050"/>
                          </a:solidFill>
                        </a:rPr>
                        <a:t>$311</a:t>
                      </a:r>
                      <a:endParaRPr lang="en-US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/>
                        <a:t>0.1327%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/>
                        <a:t>$927</a:t>
                      </a:r>
                      <a:endParaRPr lang="en-US" sz="2400"/>
                    </a:p>
                  </a:txBody>
                  <a:tcPr/>
                </a:tc>
              </a:tr>
              <a:tr h="714236">
                <a:tc>
                  <a:txBody>
                    <a:bodyPr/>
                    <a:lstStyle/>
                    <a:p>
                      <a:r>
                        <a:rPr lang="en-US" sz="2400" smtClean="0"/>
                        <a:t>% Change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+30.2%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00B050"/>
                          </a:solidFill>
                        </a:rPr>
                        <a:t>-48.7%</a:t>
                      </a:r>
                      <a:endParaRPr lang="en-US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00B050"/>
                          </a:solidFill>
                        </a:rPr>
                        <a:t>-33.1%</a:t>
                      </a:r>
                      <a:endParaRPr lang="en-US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+6.2%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+38.2%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4341091" y="3749964"/>
            <a:ext cx="1477818" cy="20815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2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2" t="13087" r="11465" b="13325"/>
          <a:stretch/>
        </p:blipFill>
        <p:spPr>
          <a:xfrm>
            <a:off x="1459587" y="203201"/>
            <a:ext cx="9157614" cy="645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9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 idx="4294967295"/>
          </p:nvPr>
        </p:nvSpPr>
        <p:spPr>
          <a:xfrm>
            <a:off x="5193108" y="1685365"/>
            <a:ext cx="6135292" cy="635746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7030A0"/>
                </a:solidFill>
              </a:rPr>
              <a:t>Berkeley Violates Clean Water Act </a:t>
            </a:r>
            <a:endParaRPr lang="en-US" sz="3200" dirty="0">
              <a:solidFill>
                <a:srgbClr val="7030A0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99" y="243897"/>
            <a:ext cx="4989909" cy="62331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0" y="2510119"/>
            <a:ext cx="68834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2014 – Consent Decree requires COB</a:t>
            </a:r>
          </a:p>
          <a:p>
            <a:pPr lvl="1"/>
            <a:r>
              <a:rPr lang="en-US" sz="2400" dirty="0"/>
              <a:t>Reduce inflow and infiltration</a:t>
            </a:r>
          </a:p>
          <a:p>
            <a:pPr lvl="1"/>
            <a:r>
              <a:rPr lang="en-US" sz="2400" dirty="0"/>
              <a:t>Reduce sanitary sewer overflows</a:t>
            </a:r>
          </a:p>
          <a:p>
            <a:pPr lvl="1"/>
            <a:r>
              <a:rPr lang="en-US" sz="2400" dirty="0"/>
              <a:t>Repair and replace aging sewer pipelines</a:t>
            </a:r>
          </a:p>
          <a:p>
            <a:pPr lvl="1"/>
            <a:endParaRPr lang="en-US" sz="2400" dirty="0"/>
          </a:p>
          <a:p>
            <a:r>
              <a:rPr lang="en-US" sz="2400" dirty="0"/>
              <a:t>2026</a:t>
            </a:r>
          </a:p>
          <a:p>
            <a:pPr lvl="1"/>
            <a:r>
              <a:rPr lang="en-US" sz="2400" dirty="0"/>
              <a:t>Replace 50 miles of sewer </a:t>
            </a:r>
            <a:r>
              <a:rPr lang="en-US" sz="2400" dirty="0" smtClean="0"/>
              <a:t>pipeline -&gt; </a:t>
            </a:r>
            <a:r>
              <a:rPr lang="en-US" sz="2400" dirty="0" smtClean="0">
                <a:solidFill>
                  <a:srgbClr val="FF0000"/>
                </a:solidFill>
              </a:rPr>
              <a:t>$100M</a:t>
            </a:r>
            <a:endParaRPr lang="en-US" sz="2400" dirty="0">
              <a:solidFill>
                <a:srgbClr val="FF0000"/>
              </a:solidFill>
            </a:endParaRPr>
          </a:p>
          <a:p>
            <a:pPr lvl="1"/>
            <a:r>
              <a:rPr lang="en-US" sz="2400" dirty="0"/>
              <a:t>Replace all noncompliant manholes</a:t>
            </a:r>
          </a:p>
          <a:p>
            <a:pPr lvl="1"/>
            <a:r>
              <a:rPr lang="en-US" sz="2400" dirty="0"/>
              <a:t>Perform </a:t>
            </a:r>
            <a:r>
              <a:rPr lang="en-US" sz="2400" dirty="0" smtClean="0"/>
              <a:t>annual </a:t>
            </a:r>
            <a:r>
              <a:rPr lang="en-US" sz="2400" dirty="0"/>
              <a:t>assessment on 25 miles </a:t>
            </a:r>
            <a:r>
              <a:rPr lang="en-US" sz="2400" dirty="0" smtClean="0"/>
              <a:t>of sewers </a:t>
            </a:r>
            <a:endParaRPr lang="en-US" sz="2400" dirty="0"/>
          </a:p>
          <a:p>
            <a:pPr lvl="1"/>
            <a:r>
              <a:rPr lang="en-US" sz="2400" dirty="0" smtClean="0"/>
              <a:t>Increase </a:t>
            </a:r>
            <a:r>
              <a:rPr lang="en-US" sz="2400" dirty="0"/>
              <a:t>maintenance activities</a:t>
            </a: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042212" y="493059"/>
            <a:ext cx="4186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REVENUE BONDS?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57200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0100" y="495300"/>
            <a:ext cx="9867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Capital Project: Sewer Pipeline Replacement</a:t>
            </a:r>
            <a:endParaRPr lang="en-US" sz="3600" dirty="0"/>
          </a:p>
        </p:txBody>
      </p:sp>
      <p:sp>
        <p:nvSpPr>
          <p:cNvPr id="9" name="TextBox 8"/>
          <p:cNvSpPr txBox="1"/>
          <p:nvPr/>
        </p:nvSpPr>
        <p:spPr>
          <a:xfrm>
            <a:off x="609600" y="1498600"/>
            <a:ext cx="105664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EPA Settlement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400" dirty="0"/>
              <a:t>Mandates 4.2 mi/y = $8.4 million</a:t>
            </a:r>
          </a:p>
          <a:p>
            <a:pPr lvl="0">
              <a:defRPr/>
            </a:pPr>
            <a:endParaRPr lang="en-US" sz="2000" dirty="0" smtClean="0">
              <a:solidFill>
                <a:srgbClr val="0070C0"/>
              </a:solidFill>
            </a:endParaRPr>
          </a:p>
          <a:p>
            <a:pPr lvl="0">
              <a:defRPr/>
            </a:pPr>
            <a:r>
              <a:rPr lang="en-US" sz="2800" dirty="0" smtClean="0"/>
              <a:t>Operating Budget</a:t>
            </a:r>
          </a:p>
          <a:p>
            <a:pPr marL="914400" lvl="1" indent="-457200">
              <a:buFont typeface="Arial" charset="0"/>
              <a:buChar char="•"/>
              <a:defRPr/>
            </a:pPr>
            <a:r>
              <a:rPr lang="en-US" sz="2400" dirty="0" smtClean="0"/>
              <a:t>~5M/</a:t>
            </a:r>
            <a:r>
              <a:rPr lang="en-US" sz="2400" dirty="0" err="1" smtClean="0"/>
              <a:t>yr</a:t>
            </a:r>
            <a:r>
              <a:rPr lang="en-US" sz="2400" dirty="0" smtClean="0"/>
              <a:t> </a:t>
            </a:r>
            <a:r>
              <a:rPr lang="en-US" sz="2400" dirty="0" smtClean="0">
                <a:sym typeface="Wingdings"/>
              </a:rPr>
              <a:t> 2.5 miles of pipeline replacement</a:t>
            </a:r>
          </a:p>
          <a:p>
            <a:pPr marL="914400" lvl="1" indent="-457200">
              <a:buFont typeface="Arial" charset="0"/>
              <a:buChar char="•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Shortfall = $3.4 M/</a:t>
            </a:r>
            <a:r>
              <a:rPr lang="en-US" sz="2400" dirty="0" err="1" smtClean="0">
                <a:solidFill>
                  <a:srgbClr val="FF0000"/>
                </a:solidFill>
              </a:rPr>
              <a:t>yr</a:t>
            </a:r>
            <a:endParaRPr lang="en-US" sz="2400" dirty="0" smtClean="0">
              <a:solidFill>
                <a:srgbClr val="FF0000"/>
              </a:solidFill>
            </a:endParaRPr>
          </a:p>
          <a:p>
            <a:pPr lvl="1"/>
            <a:endParaRPr lang="en-US" sz="2400" dirty="0" smtClean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dirty="0" smtClean="0"/>
              <a:t>Two Option</a:t>
            </a:r>
            <a:r>
              <a:rPr lang="en-US" sz="2400" dirty="0" smtClean="0"/>
              <a:t>s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2400" dirty="0" smtClean="0"/>
              <a:t>Raise sewer fees?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sz="2000" dirty="0" smtClean="0"/>
              <a:t>Keep to original schedule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2400" dirty="0" smtClean="0">
                <a:solidFill>
                  <a:srgbClr val="00B050"/>
                </a:solidFill>
              </a:rPr>
              <a:t>$</a:t>
            </a:r>
            <a:r>
              <a:rPr lang="en-US" sz="2400" dirty="0">
                <a:solidFill>
                  <a:srgbClr val="00B050"/>
                </a:solidFill>
              </a:rPr>
              <a:t>100M Revenue </a:t>
            </a:r>
            <a:r>
              <a:rPr lang="en-US" sz="2400" dirty="0" smtClean="0">
                <a:solidFill>
                  <a:srgbClr val="00B050"/>
                </a:solidFill>
              </a:rPr>
              <a:t>bond?</a:t>
            </a:r>
            <a:endParaRPr lang="en-US" sz="2000" dirty="0" smtClean="0"/>
          </a:p>
          <a:p>
            <a:pPr marL="1828800" lvl="3" indent="-457200">
              <a:buFont typeface="+mj-lt"/>
              <a:buAutoNum type="arabicPeriod"/>
            </a:pPr>
            <a:r>
              <a:rPr lang="en-US" sz="2000" dirty="0" smtClean="0"/>
              <a:t>Complete project faster</a:t>
            </a:r>
            <a:endParaRPr lang="en-US" sz="2000" dirty="0"/>
          </a:p>
          <a:p>
            <a:pPr marL="1828800" lvl="3" indent="-457200">
              <a:buFont typeface="+mj-lt"/>
              <a:buAutoNum type="arabicPeriod"/>
            </a:pPr>
            <a:r>
              <a:rPr lang="en-US" sz="2000" dirty="0" smtClean="0"/>
              <a:t>Less pollution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7216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018" y="3816902"/>
            <a:ext cx="3889275" cy="291695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925" y="3892979"/>
            <a:ext cx="3801035" cy="28507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425" y="550155"/>
            <a:ext cx="3930535" cy="28163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8171" y="3398891"/>
            <a:ext cx="3164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Permeable Surfaces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64820" y="88490"/>
            <a:ext cx="6332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mtClean="0">
                <a:solidFill>
                  <a:srgbClr val="7030A0"/>
                </a:solidFill>
              </a:rPr>
              <a:t>FUTURE Drought/Flooding </a:t>
            </a:r>
            <a:r>
              <a:rPr lang="en-US" sz="3200" dirty="0" smtClean="0">
                <a:solidFill>
                  <a:srgbClr val="7030A0"/>
                </a:solidFill>
              </a:rPr>
              <a:t>GO Bond</a:t>
            </a:r>
            <a:endParaRPr lang="en-US" sz="3200" dirty="0">
              <a:solidFill>
                <a:srgbClr val="7030A0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" r="1" b="9741"/>
          <a:stretch/>
        </p:blipFill>
        <p:spPr>
          <a:xfrm>
            <a:off x="567781" y="860444"/>
            <a:ext cx="4689750" cy="2769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45269" y="148400"/>
            <a:ext cx="2856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Rainwater Harvesting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2407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75478"/>
            <a:ext cx="10515600" cy="934757"/>
          </a:xfrm>
        </p:spPr>
        <p:txBody>
          <a:bodyPr/>
          <a:lstStyle/>
          <a:p>
            <a:pPr algn="ctr"/>
            <a:r>
              <a:rPr lang="en-US" dirty="0" smtClean="0"/>
              <a:t>Undergrounding Utilities</a:t>
            </a:r>
            <a:endParaRPr lang="en-US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66" y="1315143"/>
            <a:ext cx="5315092" cy="5282880"/>
          </a:xfrm>
        </p:spPr>
      </p:pic>
      <p:pic>
        <p:nvPicPr>
          <p:cNvPr id="14" name="Content Placeholder 13"/>
          <p:cNvPicPr>
            <a:picLocks noGrp="1" noChangeAspect="1"/>
          </p:cNvPicPr>
          <p:nvPr>
            <p:ph sz="half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8" t="1762" r="5306" b="1755"/>
          <a:stretch/>
        </p:blipFill>
        <p:spPr>
          <a:xfrm>
            <a:off x="5848575" y="1855694"/>
            <a:ext cx="6307893" cy="4034117"/>
          </a:xfrm>
        </p:spPr>
      </p:pic>
    </p:spTree>
    <p:extLst>
      <p:ext uri="{BB962C8B-B14F-4D97-AF65-F5344CB8AC3E}">
        <p14:creationId xmlns:p14="http://schemas.microsoft.com/office/powerpoint/2010/main" val="205577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1" t="3933" r="18632" b="3202"/>
          <a:stretch/>
        </p:blipFill>
        <p:spPr>
          <a:xfrm>
            <a:off x="0" y="959224"/>
            <a:ext cx="7745633" cy="57795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10747" y="172278"/>
            <a:ext cx="7818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7030A0"/>
                </a:solidFill>
              </a:rPr>
              <a:t>Underground Utilities?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9624" y="1954306"/>
            <a:ext cx="41327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</a:rPr>
              <a:t>Arterials/Collectors = $135M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Increase UUT from 7.5% to 10.0% 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Issue $135M in Revenue </a:t>
            </a:r>
            <a:r>
              <a:rPr lang="en-US" dirty="0" smtClean="0"/>
              <a:t>Bonds</a:t>
            </a:r>
          </a:p>
          <a:p>
            <a:pPr marL="285750" indent="-285750">
              <a:buFont typeface="Arial" charset="0"/>
              <a:buChar char="•"/>
            </a:pPr>
            <a:endParaRPr lang="en-US" dirty="0" smtClean="0">
              <a:solidFill>
                <a:srgbClr val="7030A0"/>
              </a:solidFill>
            </a:endParaRPr>
          </a:p>
          <a:p>
            <a:r>
              <a:rPr lang="en-US" sz="2400" dirty="0" smtClean="0">
                <a:solidFill>
                  <a:srgbClr val="7030A0"/>
                </a:solidFill>
              </a:rPr>
              <a:t>Residential streets = ~$600M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Dedicate 2.5% of current UUT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Issue $135M in Revenue Bonds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Shortfall = $465M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82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787400" y="622300"/>
            <a:ext cx="10002838" cy="546735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4000" dirty="0" smtClean="0">
                <a:solidFill>
                  <a:srgbClr val="7030A0"/>
                </a:solidFill>
              </a:rPr>
              <a:t>Seismic Rebate – 1992 Transfer Tax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Very Successful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dirty="0" smtClean="0"/>
              <a:t>Over 60% of private residences have participated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dirty="0" smtClean="0"/>
              <a:t>Number of participates is declining</a:t>
            </a:r>
          </a:p>
          <a:p>
            <a:pPr marL="914400" lvl="1" indent="-457200">
              <a:buFont typeface="Arial" charset="0"/>
              <a:buChar char="•"/>
            </a:pPr>
            <a:endParaRPr lang="en-US" dirty="0" smtClean="0"/>
          </a:p>
          <a:p>
            <a:pPr marL="0" indent="0">
              <a:buNone/>
            </a:pPr>
            <a:r>
              <a:rPr lang="en-US" sz="2800" dirty="0" smtClean="0">
                <a:solidFill>
                  <a:srgbClr val="0070C0"/>
                </a:solidFill>
              </a:rPr>
              <a:t>Expand Rebate </a:t>
            </a:r>
            <a:r>
              <a:rPr lang="en-US" sz="2800" dirty="0" smtClean="0"/>
              <a:t>to include Climate and Water Goals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dirty="0"/>
              <a:t>	</a:t>
            </a:r>
            <a:r>
              <a:rPr lang="en-US" sz="2400" dirty="0" smtClean="0"/>
              <a:t>energy efficiency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400" dirty="0"/>
              <a:t>	</a:t>
            </a:r>
            <a:r>
              <a:rPr lang="en-US" sz="2400" dirty="0" smtClean="0"/>
              <a:t>solar power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400" dirty="0"/>
              <a:t>	</a:t>
            </a:r>
            <a:r>
              <a:rPr lang="en-US" sz="2400" dirty="0" smtClean="0"/>
              <a:t>water conservation</a:t>
            </a:r>
            <a:r>
              <a:rPr lang="en-US" dirty="0" smtClean="0"/>
              <a:t>, rain</a:t>
            </a:r>
            <a:r>
              <a:rPr lang="en-US" sz="2400" dirty="0" smtClean="0"/>
              <a:t>water capture</a:t>
            </a:r>
            <a:r>
              <a:rPr lang="en-US" sz="2400" dirty="0"/>
              <a:t> </a:t>
            </a:r>
            <a:r>
              <a:rPr lang="en-US" sz="2400" dirty="0" smtClean="0"/>
              <a:t>&amp; reuse</a:t>
            </a:r>
          </a:p>
          <a:p>
            <a:pPr marL="800100" lvl="1" indent="-342900">
              <a:buFont typeface="Arial" charset="0"/>
              <a:buChar char="•"/>
            </a:pPr>
            <a:endParaRPr lang="en-US" sz="2400" dirty="0" smtClean="0"/>
          </a:p>
          <a:p>
            <a:pPr marL="0" indent="0">
              <a:buNone/>
            </a:pPr>
            <a:r>
              <a:rPr lang="en-US" dirty="0" smtClean="0"/>
              <a:t>Requires Ballot Measure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No tax increase</a:t>
            </a:r>
          </a:p>
        </p:txBody>
      </p:sp>
    </p:spTree>
    <p:extLst>
      <p:ext uri="{BB962C8B-B14F-4D97-AF65-F5344CB8AC3E}">
        <p14:creationId xmlns:p14="http://schemas.microsoft.com/office/powerpoint/2010/main" val="69660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30 Year Capital Financing Plan</a:t>
            </a:r>
            <a:br>
              <a:rPr lang="en-US" dirty="0" smtClean="0"/>
            </a:br>
            <a:r>
              <a:rPr lang="en-US" dirty="0" smtClean="0">
                <a:solidFill>
                  <a:srgbClr val="7030A0"/>
                </a:solidFill>
              </a:rPr>
              <a:t>(</a:t>
            </a:r>
            <a:r>
              <a:rPr lang="en-US" sz="3200" dirty="0" smtClean="0">
                <a:solidFill>
                  <a:srgbClr val="7030A0"/>
                </a:solidFill>
              </a:rPr>
              <a:t>$30M x 30 </a:t>
            </a:r>
            <a:r>
              <a:rPr lang="en-US" sz="3200" dirty="0" err="1" smtClean="0">
                <a:solidFill>
                  <a:srgbClr val="7030A0"/>
                </a:solidFill>
              </a:rPr>
              <a:t>yrs</a:t>
            </a:r>
            <a:r>
              <a:rPr lang="en-US" sz="3200" dirty="0" smtClean="0">
                <a:solidFill>
                  <a:srgbClr val="7030A0"/>
                </a:solidFill>
              </a:rPr>
              <a:t> = $900M)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GO Bonds</a:t>
            </a:r>
          </a:p>
          <a:p>
            <a:pPr lvl="1"/>
            <a:r>
              <a:rPr lang="en-US" dirty="0" smtClean="0"/>
              <a:t>Assessed Values </a:t>
            </a:r>
            <a:r>
              <a:rPr lang="en-US" dirty="0" smtClean="0">
                <a:sym typeface="Wingdings"/>
              </a:rPr>
              <a:t> x4  - </a:t>
            </a:r>
            <a:r>
              <a:rPr lang="en-US" dirty="0" smtClean="0">
                <a:solidFill>
                  <a:srgbClr val="7030A0"/>
                </a:solidFill>
                <a:sym typeface="Wingdings"/>
              </a:rPr>
              <a:t>Measure T1</a:t>
            </a:r>
          </a:p>
          <a:p>
            <a:pPr lvl="1"/>
            <a:r>
              <a:rPr lang="en-US" dirty="0" smtClean="0"/>
              <a:t>Ask Voter to set Debt-</a:t>
            </a:r>
            <a:r>
              <a:rPr lang="en-US" dirty="0"/>
              <a:t>S</a:t>
            </a:r>
            <a:r>
              <a:rPr lang="en-US" dirty="0" smtClean="0"/>
              <a:t>ervice </a:t>
            </a:r>
            <a:r>
              <a:rPr lang="en-US" dirty="0"/>
              <a:t>R</a:t>
            </a:r>
            <a:r>
              <a:rPr lang="en-US" dirty="0" smtClean="0"/>
              <a:t>ate at FY2000 value of 0.0867%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50"/>
                </a:solidFill>
              </a:rPr>
              <a:t>Revenue Bonds</a:t>
            </a:r>
          </a:p>
          <a:p>
            <a:pPr lvl="1"/>
            <a:r>
              <a:rPr lang="en-US" dirty="0" smtClean="0"/>
              <a:t>Use $</a:t>
            </a:r>
            <a:r>
              <a:rPr lang="en-US" dirty="0"/>
              <a:t>5</a:t>
            </a:r>
            <a:r>
              <a:rPr lang="en-US" dirty="0" smtClean="0"/>
              <a:t>M capital steam in sewer fund to issue Revenue bonds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UUT increase by 2.5% to 10%</a:t>
            </a:r>
          </a:p>
          <a:p>
            <a:pPr lvl="1"/>
            <a:r>
              <a:rPr lang="en-US" dirty="0" smtClean="0"/>
              <a:t>Use $4.7M increase to fund revenue bonds for undergrounding collectors &amp; arterials</a:t>
            </a:r>
          </a:p>
          <a:p>
            <a:pPr lvl="1"/>
            <a:r>
              <a:rPr lang="en-US" dirty="0" smtClean="0"/>
              <a:t>Dedicate 1/3 of current UUT to undergrounding residential streets</a:t>
            </a:r>
          </a:p>
          <a:p>
            <a:pPr lvl="1"/>
            <a:r>
              <a:rPr lang="en-US" dirty="0" smtClean="0"/>
              <a:t>Ask Utility &amp; Insurance Companies to subsidize residential undergrounding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Property Transfer Tax</a:t>
            </a:r>
          </a:p>
          <a:p>
            <a:pPr lvl="1"/>
            <a:r>
              <a:rPr lang="en-US" dirty="0" smtClean="0"/>
              <a:t>Broaden Seismic Exemption to include energy &amp; water efficiency</a:t>
            </a:r>
          </a:p>
          <a:p>
            <a:pPr marL="0" indent="0">
              <a:buNone/>
            </a:pPr>
            <a:r>
              <a:rPr lang="en-US" dirty="0" smtClean="0"/>
              <a:t>Partnerships</a:t>
            </a:r>
          </a:p>
          <a:p>
            <a:pPr lvl="1"/>
            <a:r>
              <a:rPr lang="en-US" dirty="0" smtClean="0"/>
              <a:t>EBMUD, Utilities, Insurance Companies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91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City Council Takeaways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 smtClean="0">
                <a:solidFill>
                  <a:srgbClr val="0070C0"/>
                </a:solidFill>
              </a:rPr>
              <a:t>Adopt </a:t>
            </a:r>
            <a:r>
              <a:rPr lang="en-US" sz="2400" dirty="0">
                <a:solidFill>
                  <a:srgbClr val="0070C0"/>
                </a:solidFill>
              </a:rPr>
              <a:t>goal </a:t>
            </a:r>
            <a:r>
              <a:rPr lang="en-US" sz="2400" dirty="0" smtClean="0">
                <a:solidFill>
                  <a:srgbClr val="0070C0"/>
                </a:solidFill>
              </a:rPr>
              <a:t>for Infrastructure2050</a:t>
            </a:r>
            <a:endParaRPr lang="en-US" sz="2400" dirty="0">
              <a:solidFill>
                <a:srgbClr val="0070C0"/>
              </a:solidFill>
            </a:endParaRPr>
          </a:p>
          <a:p>
            <a:pPr marL="800100" lvl="1" indent="-342900">
              <a:buFont typeface="Arial" charset="0"/>
              <a:buChar char="•"/>
            </a:pPr>
            <a:r>
              <a:rPr lang="en-US" sz="2000" dirty="0" smtClean="0"/>
              <a:t>Modern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000" dirty="0" smtClean="0"/>
              <a:t>Durable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000" dirty="0" smtClean="0"/>
              <a:t>Green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000" dirty="0" smtClean="0"/>
              <a:t>sustainable</a:t>
            </a:r>
            <a:endParaRPr lang="en-US" dirty="0"/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2.   Develop Vision for </a:t>
            </a:r>
            <a:r>
              <a:rPr lang="en-US" sz="2400" dirty="0" smtClean="0">
                <a:solidFill>
                  <a:srgbClr val="0070C0"/>
                </a:solidFill>
              </a:rPr>
              <a:t>Infrastructure2050</a:t>
            </a:r>
          </a:p>
          <a:p>
            <a:pPr lvl="1"/>
            <a:r>
              <a:rPr lang="en-US" sz="2000" dirty="0" smtClean="0"/>
              <a:t> </a:t>
            </a:r>
            <a:r>
              <a:rPr lang="en-US" sz="2000" dirty="0" err="1" smtClean="0"/>
              <a:t>UCBerkeley</a:t>
            </a:r>
            <a:endParaRPr lang="en-US" sz="2000" dirty="0"/>
          </a:p>
          <a:p>
            <a:pPr lvl="1"/>
            <a:r>
              <a:rPr lang="en-US" sz="2000" dirty="0"/>
              <a:t> </a:t>
            </a:r>
            <a:r>
              <a:rPr lang="en-US" sz="2000" dirty="0" smtClean="0"/>
              <a:t>Berkeley Lab</a:t>
            </a:r>
          </a:p>
          <a:p>
            <a:pPr marL="457200" indent="-457200">
              <a:buAutoNum type="arabicPeriod" startAt="3"/>
            </a:pPr>
            <a:r>
              <a:rPr lang="en-US" sz="2400" dirty="0" smtClean="0">
                <a:solidFill>
                  <a:srgbClr val="0070C0"/>
                </a:solidFill>
              </a:rPr>
              <a:t>Establish Planning Process</a:t>
            </a:r>
          </a:p>
          <a:p>
            <a:pPr lvl="1"/>
            <a:r>
              <a:rPr lang="en-US" sz="2000" dirty="0" smtClean="0"/>
              <a:t>Citizen involvement</a:t>
            </a:r>
            <a:endParaRPr lang="en-US" sz="2000" dirty="0"/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802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 smtClean="0">
                <a:solidFill>
                  <a:srgbClr val="7030A0"/>
                </a:solidFill>
              </a:rPr>
              <a:t>The End</a:t>
            </a:r>
            <a:endParaRPr lang="en-US" sz="7200" dirty="0">
              <a:solidFill>
                <a:srgbClr val="7030A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0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What is Berkeley’s Vision for 2050?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000" dirty="0" smtClean="0"/>
              <a:t>Carbon Neutral</a:t>
            </a:r>
          </a:p>
          <a:p>
            <a:pPr marL="0" indent="0">
              <a:buNone/>
            </a:pPr>
            <a:r>
              <a:rPr lang="en-US" sz="3000" dirty="0" smtClean="0"/>
              <a:t>Water Neutral, conservation &amp; flooding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>
                <a:solidFill>
                  <a:srgbClr val="FF0000"/>
                </a:solidFill>
              </a:rPr>
              <a:t>Rainwater capture &amp; reuse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>
                <a:solidFill>
                  <a:srgbClr val="FF0000"/>
                </a:solidFill>
              </a:rPr>
              <a:t>Permeable surfaces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>
                <a:solidFill>
                  <a:srgbClr val="FF0000"/>
                </a:solidFill>
              </a:rPr>
              <a:t>Grey water</a:t>
            </a:r>
            <a:endParaRPr lang="en-US" sz="2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000" dirty="0" smtClean="0"/>
              <a:t>Fiscally sustainable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>
                <a:solidFill>
                  <a:srgbClr val="FF0000"/>
                </a:solidFill>
              </a:rPr>
              <a:t>Durable </a:t>
            </a:r>
            <a:r>
              <a:rPr lang="en-US" sz="2600" dirty="0">
                <a:solidFill>
                  <a:srgbClr val="FF0000"/>
                </a:solidFill>
              </a:rPr>
              <a:t>– lower maintenance </a:t>
            </a:r>
            <a:r>
              <a:rPr lang="en-US" sz="2600" dirty="0" smtClean="0">
                <a:solidFill>
                  <a:srgbClr val="FF0000"/>
                </a:solidFill>
              </a:rPr>
              <a:t>costs</a:t>
            </a:r>
          </a:p>
          <a:p>
            <a:pPr lvl="2"/>
            <a:r>
              <a:rPr lang="en-US" sz="2200" dirty="0" smtClean="0">
                <a:solidFill>
                  <a:srgbClr val="7030A0"/>
                </a:solidFill>
              </a:rPr>
              <a:t>E.g. LED street lights</a:t>
            </a:r>
          </a:p>
          <a:p>
            <a:pPr lvl="2"/>
            <a:r>
              <a:rPr lang="en-US" sz="2200" dirty="0" smtClean="0">
                <a:solidFill>
                  <a:srgbClr val="7030A0"/>
                </a:solidFill>
              </a:rPr>
              <a:t>E.g. Branch libraries seismic/energy upgrades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>
                <a:solidFill>
                  <a:srgbClr val="FF0000"/>
                </a:solidFill>
              </a:rPr>
              <a:t>Infrastructure replacement fund</a:t>
            </a:r>
            <a:endParaRPr lang="en-US" sz="22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3000" dirty="0"/>
              <a:t>Resilient and Beautiful </a:t>
            </a:r>
            <a:r>
              <a:rPr lang="en-US" sz="3000" dirty="0" smtClean="0"/>
              <a:t>City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200" dirty="0" smtClean="0">
                <a:solidFill>
                  <a:srgbClr val="FF0000"/>
                </a:solidFill>
              </a:rPr>
              <a:t>Undergrounding &amp; fiber optics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200" dirty="0" smtClean="0">
                <a:solidFill>
                  <a:srgbClr val="FF0000"/>
                </a:solidFill>
              </a:rPr>
              <a:t>Parks &amp; greenways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200" dirty="0" smtClean="0">
                <a:solidFill>
                  <a:srgbClr val="FF0000"/>
                </a:solidFill>
              </a:rPr>
              <a:t>Fishing pier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14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583" y="459239"/>
            <a:ext cx="8777578" cy="6398761"/>
          </a:xfrm>
        </p:spPr>
      </p:pic>
      <p:sp>
        <p:nvSpPr>
          <p:cNvPr id="5" name="Rectangle 4"/>
          <p:cNvSpPr/>
          <p:nvPr/>
        </p:nvSpPr>
        <p:spPr>
          <a:xfrm>
            <a:off x="5837914" y="2174350"/>
            <a:ext cx="906780" cy="3733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696818" y="129663"/>
            <a:ext cx="637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FF8AD8"/>
                </a:solidFill>
              </a:rPr>
              <a:t>Debt Service is 2% of Total Budget</a:t>
            </a:r>
            <a:endParaRPr lang="en-US" sz="3200" dirty="0">
              <a:solidFill>
                <a:srgbClr val="FF8A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853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2090</TotalTime>
  <Words>871</Words>
  <Application>Microsoft Macintosh PowerPoint</Application>
  <PresentationFormat>Widescreen</PresentationFormat>
  <Paragraphs>206</Paragraphs>
  <Slides>20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Calibri Light</vt:lpstr>
      <vt:lpstr>Wingdings</vt:lpstr>
      <vt:lpstr>Arial</vt:lpstr>
      <vt:lpstr>Office Theme</vt:lpstr>
      <vt:lpstr> Infrastructure2050</vt:lpstr>
      <vt:lpstr>PowerPoint Presentation</vt:lpstr>
      <vt:lpstr>PowerPoint Presentation</vt:lpstr>
      <vt:lpstr>PowerPoint Presentation</vt:lpstr>
      <vt:lpstr>How Does Berkeley Finance Capital Projects?</vt:lpstr>
      <vt:lpstr>To Bond or Not to Bond?</vt:lpstr>
      <vt:lpstr>From 2000 – 2016, Berkeley issued $62 Million in New Bonds  Did its Debt Service Tax Rate go up or down?</vt:lpstr>
      <vt:lpstr>Comparison Taxes and Tax Rates for 2000/1 to 2016/17 (141 Parkside Drive)</vt:lpstr>
      <vt:lpstr>PowerPoint Presentation</vt:lpstr>
      <vt:lpstr>Berkeley Violates Clean Water Act </vt:lpstr>
      <vt:lpstr>PowerPoint Presentation</vt:lpstr>
      <vt:lpstr>PowerPoint Presentation</vt:lpstr>
      <vt:lpstr>Undergrounding Utilities</vt:lpstr>
      <vt:lpstr>PowerPoint Presentation</vt:lpstr>
      <vt:lpstr>PowerPoint Presentation</vt:lpstr>
      <vt:lpstr>30 Year Capital Financing Plan ($30M x 30 yrs = $900M)</vt:lpstr>
      <vt:lpstr>City Council Takeaways</vt:lpstr>
      <vt:lpstr>The End</vt:lpstr>
      <vt:lpstr>What is Berkeley’s Vision for 2050?</vt:lpstr>
      <vt:lpstr>PowerPoint Presentation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Measure T1 &amp; Bond Refinancing</dc:title>
  <dc:creator>Gordon Wozniak</dc:creator>
  <cp:lastModifiedBy>Gordon Wozniak</cp:lastModifiedBy>
  <cp:revision>176</cp:revision>
  <cp:lastPrinted>2017-01-20T18:49:11Z</cp:lastPrinted>
  <dcterms:created xsi:type="dcterms:W3CDTF">2016-12-01T17:49:46Z</dcterms:created>
  <dcterms:modified xsi:type="dcterms:W3CDTF">2017-03-06T18:32:44Z</dcterms:modified>
</cp:coreProperties>
</file>