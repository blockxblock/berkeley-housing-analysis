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jpeg"/>
  <Default Extension="emf" ContentType="image/x-emf"/>
  <Default Extension="rels" ContentType="application/vnd.openxmlformats-package.relationships+xml"/>
  <Default Extension="bin" ContentType="application/vnd.openxmlformats-officedocument.presentationml.printerSettings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9"/>
  </p:notesMasterIdLst>
  <p:sldIdLst>
    <p:sldId id="267" r:id="rId2"/>
    <p:sldId id="266" r:id="rId3"/>
    <p:sldId id="261" r:id="rId4"/>
    <p:sldId id="257" r:id="rId5"/>
    <p:sldId id="259" r:id="rId6"/>
    <p:sldId id="260" r:id="rId7"/>
    <p:sldId id="297" r:id="rId8"/>
    <p:sldId id="262" r:id="rId9"/>
    <p:sldId id="283" r:id="rId10"/>
    <p:sldId id="284" r:id="rId11"/>
    <p:sldId id="265" r:id="rId12"/>
    <p:sldId id="263" r:id="rId13"/>
    <p:sldId id="256" r:id="rId14"/>
    <p:sldId id="264" r:id="rId15"/>
    <p:sldId id="276" r:id="rId16"/>
    <p:sldId id="268" r:id="rId17"/>
    <p:sldId id="269" r:id="rId18"/>
    <p:sldId id="270" r:id="rId19"/>
    <p:sldId id="271" r:id="rId20"/>
    <p:sldId id="279" r:id="rId21"/>
    <p:sldId id="280" r:id="rId22"/>
    <p:sldId id="281" r:id="rId23"/>
    <p:sldId id="277" r:id="rId24"/>
    <p:sldId id="282" r:id="rId25"/>
    <p:sldId id="275" r:id="rId26"/>
    <p:sldId id="278" r:id="rId27"/>
    <p:sldId id="291" r:id="rId28"/>
    <p:sldId id="292" r:id="rId29"/>
    <p:sldId id="293" r:id="rId30"/>
    <p:sldId id="295" r:id="rId31"/>
    <p:sldId id="294" r:id="rId32"/>
    <p:sldId id="287" r:id="rId33"/>
    <p:sldId id="288" r:id="rId34"/>
    <p:sldId id="290" r:id="rId35"/>
    <p:sldId id="289" r:id="rId36"/>
    <p:sldId id="285" r:id="rId37"/>
    <p:sldId id="286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8A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097"/>
    <p:restoredTop sz="94627"/>
  </p:normalViewPr>
  <p:slideViewPr>
    <p:cSldViewPr snapToGrid="0" snapToObjects="1">
      <p:cViewPr varScale="1">
        <p:scale>
          <a:sx n="70" d="100"/>
          <a:sy n="70" d="100"/>
        </p:scale>
        <p:origin x="-912" y="-10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62" d="100"/>
        <a:sy n="162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interSettings" Target="printerSettings/printerSettings1.bin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987E46-B92F-A04B-844A-3693F2B2CD2C}" type="datetimeFigureOut">
              <a:rPr lang="en-US" smtClean="0"/>
              <a:t>2/17/17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BEE093-86F6-C84F-970F-6B68D3060C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2185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BEE093-86F6-C84F-970F-6B68D3060C3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902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BEE093-86F6-C84F-970F-6B68D3060C3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0536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BEE093-86F6-C84F-970F-6B68D3060C31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907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Add fiber to trench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BEE093-86F6-C84F-970F-6B68D3060C31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2783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BEE093-86F6-C84F-970F-6B68D3060C31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0926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F4A08-C7D9-FD41-BF72-84B36DACBD6E}" type="datetimeFigureOut">
              <a:rPr lang="en-US" smtClean="0"/>
              <a:t>2/17/17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949F9-1062-9648-BC7A-1FEE9FD90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1110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F4A08-C7D9-FD41-BF72-84B36DACBD6E}" type="datetimeFigureOut">
              <a:rPr lang="en-US" smtClean="0"/>
              <a:t>2/17/17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949F9-1062-9648-BC7A-1FEE9FD90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6573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F4A08-C7D9-FD41-BF72-84B36DACBD6E}" type="datetimeFigureOut">
              <a:rPr lang="en-US" smtClean="0"/>
              <a:t>2/17/17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949F9-1062-9648-BC7A-1FEE9FD90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1980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F4A08-C7D9-FD41-BF72-84B36DACBD6E}" type="datetimeFigureOut">
              <a:rPr lang="en-US" smtClean="0"/>
              <a:t>2/17/17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949F9-1062-9648-BC7A-1FEE9FD90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1608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F4A08-C7D9-FD41-BF72-84B36DACBD6E}" type="datetimeFigureOut">
              <a:rPr lang="en-US" smtClean="0"/>
              <a:t>2/17/17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949F9-1062-9648-BC7A-1FEE9FD90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562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F4A08-C7D9-FD41-BF72-84B36DACBD6E}" type="datetimeFigureOut">
              <a:rPr lang="en-US" smtClean="0"/>
              <a:t>2/17/17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949F9-1062-9648-BC7A-1FEE9FD90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530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F4A08-C7D9-FD41-BF72-84B36DACBD6E}" type="datetimeFigureOut">
              <a:rPr lang="en-US" smtClean="0"/>
              <a:t>2/17/17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949F9-1062-9648-BC7A-1FEE9FD90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3873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F4A08-C7D9-FD41-BF72-84B36DACBD6E}" type="datetimeFigureOut">
              <a:rPr lang="en-US" smtClean="0"/>
              <a:t>2/17/17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949F9-1062-9648-BC7A-1FEE9FD90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446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F4A08-C7D9-FD41-BF72-84B36DACBD6E}" type="datetimeFigureOut">
              <a:rPr lang="en-US" smtClean="0"/>
              <a:t>2/17/17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949F9-1062-9648-BC7A-1FEE9FD90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9020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F4A08-C7D9-FD41-BF72-84B36DACBD6E}" type="datetimeFigureOut">
              <a:rPr lang="en-US" smtClean="0"/>
              <a:t>2/17/17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949F9-1062-9648-BC7A-1FEE9FD90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2202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F4A08-C7D9-FD41-BF72-84B36DACBD6E}" type="datetimeFigureOut">
              <a:rPr lang="en-US" smtClean="0"/>
              <a:t>2/17/17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949F9-1062-9648-BC7A-1FEE9FD90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1788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4F4A08-C7D9-FD41-BF72-84B36DACBD6E}" type="datetimeFigureOut">
              <a:rPr lang="en-US" smtClean="0"/>
              <a:t>2/17/17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5949F9-1062-9648-BC7A-1FEE9FD90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6128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e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emf"/><Relationship Id="rId3" Type="http://schemas.openxmlformats.org/officeDocument/2006/relationships/image" Target="../media/image4.jp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jp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4" Type="http://schemas.openxmlformats.org/officeDocument/2006/relationships/image" Target="../media/image12.jp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jp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4" Type="http://schemas.openxmlformats.org/officeDocument/2006/relationships/image" Target="../media/image18.jpg"/><Relationship Id="rId5" Type="http://schemas.openxmlformats.org/officeDocument/2006/relationships/image" Target="../media/image19.jp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jp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jp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 smtClean="0"/>
              <a:t>Bonds, Refinancing, Infrastructure, Climate Change and Clean Water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 smtClean="0"/>
              <a:t>John Gage &amp; Gordon Wozniak</a:t>
            </a:r>
          </a:p>
          <a:p>
            <a:pPr algn="ctr"/>
            <a:r>
              <a:rPr lang="en-US" sz="3200" dirty="0" smtClean="0"/>
              <a:t>February 16, 2017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58833185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solidFill>
                  <a:srgbClr val="7030A0"/>
                </a:solidFill>
              </a:rPr>
              <a:t>To Bond or Not to Bond?</a:t>
            </a:r>
            <a:br>
              <a:rPr lang="en-US" dirty="0" smtClean="0">
                <a:solidFill>
                  <a:srgbClr val="7030A0"/>
                </a:solidFill>
              </a:rPr>
            </a:b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 smtClean="0"/>
              <a:t>A short review of Berkeley’s Bond History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82095162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7650" y="2413794"/>
            <a:ext cx="9156700" cy="3175000"/>
          </a:xfrm>
        </p:spPr>
      </p:pic>
    </p:spTree>
    <p:extLst>
      <p:ext uri="{BB962C8B-B14F-4D97-AF65-F5344CB8AC3E}">
        <p14:creationId xmlns:p14="http://schemas.microsoft.com/office/powerpoint/2010/main" val="197144335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436969" y="365125"/>
            <a:ext cx="10770499" cy="1325563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rgbClr val="7030A0"/>
                </a:solidFill>
              </a:rPr>
              <a:t>COB General Obligation (GO) Bonds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3200" dirty="0" smtClean="0"/>
              <a:t>(2000 – 2016)</a:t>
            </a:r>
            <a:endParaRPr lang="en-US" sz="3200" dirty="0"/>
          </a:p>
        </p:txBody>
      </p:sp>
      <p:sp>
        <p:nvSpPr>
          <p:cNvPr id="5" name="TextBox 4"/>
          <p:cNvSpPr txBox="1"/>
          <p:nvPr/>
        </p:nvSpPr>
        <p:spPr>
          <a:xfrm>
            <a:off x="1321564" y="2350197"/>
            <a:ext cx="898398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Year			</a:t>
            </a:r>
            <a:r>
              <a:rPr lang="en-US" b="1" dirty="0" smtClean="0"/>
              <a:t>	Amount</a:t>
            </a:r>
            <a:r>
              <a:rPr lang="en-US" b="1" dirty="0"/>
              <a:t>	</a:t>
            </a:r>
            <a:r>
              <a:rPr lang="en-US" b="1" dirty="0" smtClean="0"/>
              <a:t>	Description</a:t>
            </a:r>
            <a:endParaRPr lang="en-US" b="1" dirty="0"/>
          </a:p>
          <a:p>
            <a:r>
              <a:rPr lang="en-US" dirty="0"/>
              <a:t>2002			</a:t>
            </a:r>
            <a:r>
              <a:rPr lang="en-US" dirty="0" smtClean="0"/>
              <a:t>	$</a:t>
            </a:r>
            <a:r>
              <a:rPr lang="en-US" dirty="0"/>
              <a:t>17.8 M	</a:t>
            </a:r>
            <a:r>
              <a:rPr lang="en-US" dirty="0" smtClean="0"/>
              <a:t>	Measure </a:t>
            </a:r>
            <a:r>
              <a:rPr lang="en-US" dirty="0"/>
              <a:t>G – Fire Safety</a:t>
            </a:r>
          </a:p>
          <a:p>
            <a:r>
              <a:rPr lang="en-US" dirty="0"/>
              <a:t>2007		  	  </a:t>
            </a:r>
            <a:r>
              <a:rPr lang="en-US" dirty="0" smtClean="0"/>
              <a:t>	$</a:t>
            </a:r>
            <a:r>
              <a:rPr lang="en-US" dirty="0"/>
              <a:t>4.3 M	</a:t>
            </a:r>
            <a:r>
              <a:rPr lang="en-US" dirty="0" smtClean="0"/>
              <a:t>	Measure </a:t>
            </a:r>
            <a:r>
              <a:rPr lang="en-US" dirty="0"/>
              <a:t>G – Fire Safety</a:t>
            </a:r>
          </a:p>
          <a:p>
            <a:r>
              <a:rPr lang="en-US" dirty="0"/>
              <a:t>2007 			</a:t>
            </a:r>
            <a:r>
              <a:rPr lang="en-US" dirty="0" smtClean="0"/>
              <a:t>	$</a:t>
            </a:r>
            <a:r>
              <a:rPr lang="en-US" dirty="0"/>
              <a:t>41.2 M	</a:t>
            </a:r>
            <a:r>
              <a:rPr lang="en-US" dirty="0" smtClean="0"/>
              <a:t>	Measure </a:t>
            </a:r>
            <a:r>
              <a:rPr lang="en-US" dirty="0"/>
              <a:t>S</a:t>
            </a:r>
          </a:p>
          <a:p>
            <a:r>
              <a:rPr lang="en-US" b="1" dirty="0"/>
              <a:t>Bond </a:t>
            </a:r>
            <a:r>
              <a:rPr lang="en-US" b="1" dirty="0" smtClean="0"/>
              <a:t>Refinancing (2002 -07)</a:t>
            </a:r>
            <a:r>
              <a:rPr lang="en-US" b="1" dirty="0"/>
              <a:t>	</a:t>
            </a:r>
            <a:r>
              <a:rPr lang="en-US" b="1" dirty="0" smtClean="0"/>
              <a:t>	$</a:t>
            </a:r>
            <a:r>
              <a:rPr lang="en-US" b="1" dirty="0"/>
              <a:t>62.3 M</a:t>
            </a:r>
          </a:p>
          <a:p>
            <a:r>
              <a:rPr lang="en-US" dirty="0"/>
              <a:t> </a:t>
            </a:r>
          </a:p>
          <a:p>
            <a:r>
              <a:rPr lang="en-US" dirty="0"/>
              <a:t>2008		  	  </a:t>
            </a:r>
            <a:r>
              <a:rPr lang="en-US" dirty="0" smtClean="0"/>
              <a:t>	$</a:t>
            </a:r>
            <a:r>
              <a:rPr lang="en-US" dirty="0"/>
              <a:t>7.2 M	</a:t>
            </a:r>
            <a:r>
              <a:rPr lang="en-US" dirty="0" smtClean="0"/>
              <a:t>	Measure </a:t>
            </a:r>
            <a:r>
              <a:rPr lang="en-US" dirty="0"/>
              <a:t>I – Animal Shelter</a:t>
            </a:r>
          </a:p>
          <a:p>
            <a:r>
              <a:rPr lang="en-US" dirty="0"/>
              <a:t>2009			</a:t>
            </a:r>
            <a:r>
              <a:rPr lang="en-US" dirty="0" smtClean="0"/>
              <a:t>	$</a:t>
            </a:r>
            <a:r>
              <a:rPr lang="en-US" dirty="0"/>
              <a:t>10.0 M	</a:t>
            </a:r>
            <a:r>
              <a:rPr lang="en-US" dirty="0" smtClean="0"/>
              <a:t>	Measure </a:t>
            </a:r>
            <a:r>
              <a:rPr lang="en-US" dirty="0"/>
              <a:t>FF – Branch Libraries</a:t>
            </a:r>
          </a:p>
          <a:p>
            <a:r>
              <a:rPr lang="en-US" dirty="0"/>
              <a:t>2010			</a:t>
            </a:r>
            <a:r>
              <a:rPr lang="en-US" dirty="0" smtClean="0"/>
              <a:t>	$</a:t>
            </a:r>
            <a:r>
              <a:rPr lang="en-US" dirty="0"/>
              <a:t>16.0 M	</a:t>
            </a:r>
            <a:r>
              <a:rPr lang="en-US" dirty="0" smtClean="0"/>
              <a:t>	Measure </a:t>
            </a:r>
            <a:r>
              <a:rPr lang="en-US" dirty="0"/>
              <a:t>FF – Branch Libraries</a:t>
            </a:r>
          </a:p>
          <a:p>
            <a:r>
              <a:rPr lang="en-US" dirty="0"/>
              <a:t>2014			</a:t>
            </a:r>
            <a:r>
              <a:rPr lang="en-US" dirty="0" smtClean="0"/>
              <a:t>	$</a:t>
            </a:r>
            <a:r>
              <a:rPr lang="en-US" dirty="0"/>
              <a:t>15.0 M	</a:t>
            </a:r>
            <a:r>
              <a:rPr lang="en-US" dirty="0" smtClean="0"/>
              <a:t>	Measure </a:t>
            </a:r>
            <a:r>
              <a:rPr lang="en-US" dirty="0"/>
              <a:t>M – Street &amp; Watershed</a:t>
            </a:r>
          </a:p>
          <a:p>
            <a:r>
              <a:rPr lang="en-US" dirty="0"/>
              <a:t>2016			</a:t>
            </a:r>
            <a:r>
              <a:rPr lang="en-US" dirty="0" smtClean="0"/>
              <a:t>	$</a:t>
            </a:r>
            <a:r>
              <a:rPr lang="en-US" dirty="0"/>
              <a:t>15.0 M	</a:t>
            </a:r>
            <a:r>
              <a:rPr lang="en-US" dirty="0" smtClean="0"/>
              <a:t>	Measure </a:t>
            </a:r>
            <a:r>
              <a:rPr lang="en-US" dirty="0"/>
              <a:t>M – Street &amp; Watershed</a:t>
            </a:r>
          </a:p>
          <a:p>
            <a:r>
              <a:rPr lang="en-US" b="1" dirty="0"/>
              <a:t>New </a:t>
            </a:r>
            <a:r>
              <a:rPr lang="en-US" b="1" dirty="0" smtClean="0"/>
              <a:t>Bonds (2008 – 2016)</a:t>
            </a:r>
            <a:r>
              <a:rPr lang="en-US" b="1" dirty="0"/>
              <a:t>		</a:t>
            </a:r>
            <a:r>
              <a:rPr lang="en-US" b="1" dirty="0" smtClean="0"/>
              <a:t>$</a:t>
            </a:r>
            <a:r>
              <a:rPr lang="en-US" b="1" dirty="0"/>
              <a:t>63.2 M</a:t>
            </a:r>
            <a:r>
              <a:rPr lang="en-US" b="1" dirty="0" smtClean="0">
                <a:effectLst/>
              </a:rPr>
              <a:t> </a:t>
            </a:r>
            <a:endParaRPr 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203103311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33" t="8614" r="6181" b="8554"/>
          <a:stretch/>
        </p:blipFill>
        <p:spPr>
          <a:xfrm>
            <a:off x="1590235" y="169934"/>
            <a:ext cx="8945595" cy="6507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18106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61969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dirty="0" smtClean="0"/>
              <a:t>Why has Berkeley’s Debt Service Tax Rate Decreased and then stayed constant while $62 M in New Bonds were issued?</a:t>
            </a:r>
            <a:endParaRPr lang="en-US" sz="3600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6" t="10724" r="9580" b="12016"/>
          <a:stretch/>
        </p:blipFill>
        <p:spPr>
          <a:xfrm rot="10800000" flipH="1" flipV="1">
            <a:off x="6096000" y="1925155"/>
            <a:ext cx="5808876" cy="3990123"/>
          </a:xfrm>
        </p:spPr>
      </p:pic>
      <p:pic>
        <p:nvPicPr>
          <p:cNvPr id="7" name="Content Placeholder 6"/>
          <p:cNvPicPr>
            <a:picLocks noGrp="1" noChangeAspect="1"/>
          </p:cNvPicPr>
          <p:nvPr>
            <p:ph sz="half"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11" t="4363" r="6520" b="-549"/>
          <a:stretch/>
        </p:blipFill>
        <p:spPr>
          <a:xfrm>
            <a:off x="222577" y="1855435"/>
            <a:ext cx="5873423" cy="4059843"/>
          </a:xfrm>
        </p:spPr>
      </p:pic>
    </p:spTree>
    <p:extLst>
      <p:ext uri="{BB962C8B-B14F-4D97-AF65-F5344CB8AC3E}">
        <p14:creationId xmlns:p14="http://schemas.microsoft.com/office/powerpoint/2010/main" val="210879059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Property Taxes:  141 Parkside Drive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86880673"/>
              </p:ext>
            </p:extLst>
          </p:nvPr>
        </p:nvGraphicFramePr>
        <p:xfrm>
          <a:off x="697782" y="1884162"/>
          <a:ext cx="10656018" cy="29074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6003"/>
                <a:gridCol w="2159489"/>
                <a:gridCol w="1646766"/>
                <a:gridCol w="1395565"/>
                <a:gridCol w="1902192"/>
                <a:gridCol w="1776003"/>
              </a:tblGrid>
              <a:tr h="988867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Tax Year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Net</a:t>
                      </a:r>
                      <a:r>
                        <a:rPr lang="en-US" sz="2400" baseline="0" dirty="0" smtClean="0"/>
                        <a:t> Assessment ($)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Tax Rate (%)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Tax ($)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Special Assessments ($)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Total Tax ($)</a:t>
                      </a:r>
                      <a:endParaRPr lang="en-US" sz="2400" dirty="0"/>
                    </a:p>
                  </a:txBody>
                  <a:tcPr/>
                </a:tc>
              </a:tr>
              <a:tr h="572914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2000/01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536,908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1.2344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6,628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1,835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8,462</a:t>
                      </a:r>
                      <a:endParaRPr lang="en-US" sz="2400" dirty="0"/>
                    </a:p>
                  </a:txBody>
                  <a:tcPr/>
                </a:tc>
              </a:tr>
              <a:tr h="572914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2016/17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699,159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1.2168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8,507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4,557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13,064</a:t>
                      </a:r>
                      <a:endParaRPr lang="en-US" sz="2400" dirty="0"/>
                    </a:p>
                  </a:txBody>
                  <a:tcPr/>
                </a:tc>
              </a:tr>
              <a:tr h="572914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% Change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+30.2 %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-1.4%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+28.3%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+148%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+54.4%</a:t>
                      </a:r>
                      <a:endParaRPr lang="en-US" sz="24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362746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59013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dirty="0" smtClean="0"/>
              <a:t>Comparison Taxes and Tax Rates for 2000/1 to 2016/17</a:t>
            </a:r>
            <a:br>
              <a:rPr lang="en-US" sz="4000" dirty="0" smtClean="0"/>
            </a:br>
            <a:r>
              <a:rPr lang="en-US" sz="4000" dirty="0" smtClean="0"/>
              <a:t>(141 Parkside Drive)</a:t>
            </a:r>
            <a:endParaRPr lang="en-US" sz="4000" dirty="0"/>
          </a:p>
        </p:txBody>
      </p:sp>
      <p:graphicFrame>
        <p:nvGraphicFramePr>
          <p:cNvPr id="11" name="Content Placeholder 10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02378594"/>
              </p:ext>
            </p:extLst>
          </p:nvPr>
        </p:nvGraphicFramePr>
        <p:xfrm>
          <a:off x="838200" y="2208180"/>
          <a:ext cx="10515600" cy="36971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/>
                <a:gridCol w="1752600"/>
                <a:gridCol w="1752600"/>
                <a:gridCol w="1752600"/>
                <a:gridCol w="1752600"/>
                <a:gridCol w="1752600"/>
              </a:tblGrid>
              <a:tr h="123279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Year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Countywide</a:t>
                      </a:r>
                      <a:r>
                        <a:rPr lang="en-US" sz="2400" baseline="0" dirty="0" smtClean="0"/>
                        <a:t> </a:t>
                      </a:r>
                      <a:r>
                        <a:rPr lang="en-US" sz="2400" dirty="0" smtClean="0"/>
                        <a:t>Property</a:t>
                      </a:r>
                      <a:r>
                        <a:rPr lang="en-US" sz="2400" baseline="0" dirty="0" smtClean="0"/>
                        <a:t> Tax based on AV</a:t>
                      </a:r>
                      <a:r>
                        <a:rPr lang="en-US" sz="2400" dirty="0" smtClean="0"/>
                        <a:t> ($)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COB Tax Rate</a:t>
                      </a:r>
                    </a:p>
                    <a:p>
                      <a:r>
                        <a:rPr lang="en-US" sz="2400" dirty="0" smtClean="0"/>
                        <a:t>(%)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COB Tax Amount ($)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BUSD Tax Rate</a:t>
                      </a:r>
                    </a:p>
                    <a:p>
                      <a:r>
                        <a:rPr lang="en-US" sz="2400" dirty="0" smtClean="0"/>
                        <a:t>(%)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BUSD</a:t>
                      </a:r>
                      <a:r>
                        <a:rPr lang="en-US" sz="2400" baseline="0" dirty="0" smtClean="0"/>
                        <a:t> Tax Amount ($)</a:t>
                      </a:r>
                      <a:endParaRPr lang="en-US" sz="2400" dirty="0"/>
                    </a:p>
                  </a:txBody>
                  <a:tcPr/>
                </a:tc>
              </a:tr>
              <a:tr h="714236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2000/1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$5,369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0.0867%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$465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0.1250%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$671</a:t>
                      </a:r>
                      <a:endParaRPr lang="en-US" sz="2400" dirty="0"/>
                    </a:p>
                  </a:txBody>
                  <a:tcPr/>
                </a:tc>
              </a:tr>
              <a:tr h="714236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2016/17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$6,991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0.0445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$311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0.1327%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$927</a:t>
                      </a:r>
                      <a:endParaRPr lang="en-US" sz="2400" dirty="0"/>
                    </a:p>
                  </a:txBody>
                  <a:tcPr/>
                </a:tc>
              </a:tr>
              <a:tr h="714236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% Change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+30.2%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-48.7%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-33.1%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+6.2%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+38.2%</a:t>
                      </a:r>
                      <a:endParaRPr lang="en-US" sz="24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862330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 smtClean="0"/>
              <a:t>Annual Berkeley Property Taxes: FYs2011 -17</a:t>
            </a:r>
            <a:br>
              <a:rPr lang="en-US" dirty="0" smtClean="0"/>
            </a:br>
            <a:r>
              <a:rPr lang="en-US" sz="3600" dirty="0" smtClean="0"/>
              <a:t>(average assessed value – 1900 ft2)</a:t>
            </a:r>
            <a:endParaRPr lang="en-US" sz="3600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199" y="1825624"/>
            <a:ext cx="10421601" cy="4842691"/>
          </a:xfrm>
        </p:spPr>
      </p:pic>
    </p:spTree>
    <p:extLst>
      <p:ext uri="{BB962C8B-B14F-4D97-AF65-F5344CB8AC3E}">
        <p14:creationId xmlns:p14="http://schemas.microsoft.com/office/powerpoint/2010/main" val="94659708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7583" y="459239"/>
            <a:ext cx="8777578" cy="6398761"/>
          </a:xfrm>
        </p:spPr>
      </p:pic>
      <p:sp>
        <p:nvSpPr>
          <p:cNvPr id="5" name="Rectangle 4"/>
          <p:cNvSpPr/>
          <p:nvPr/>
        </p:nvSpPr>
        <p:spPr>
          <a:xfrm>
            <a:off x="5837914" y="2174350"/>
            <a:ext cx="906780" cy="37338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96818" y="129663"/>
            <a:ext cx="63742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>
                <a:solidFill>
                  <a:srgbClr val="FF8AD8"/>
                </a:solidFill>
              </a:rPr>
              <a:t>Debt Service is 2% of Total Budget</a:t>
            </a:r>
            <a:endParaRPr lang="en-US" sz="3200" dirty="0">
              <a:solidFill>
                <a:srgbClr val="FF8AD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785345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Possible Bond Refinancing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smtClean="0"/>
              <a:t>Council ask City Manager to review refinancing of existing GO Bonds for potential fiscal savings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>
                <a:solidFill>
                  <a:srgbClr val="7030A0"/>
                </a:solidFill>
              </a:rPr>
              <a:t>GO Bonds						Interest Rate	Amount</a:t>
            </a:r>
          </a:p>
          <a:p>
            <a:r>
              <a:rPr lang="en-US" dirty="0" smtClean="0"/>
              <a:t>Measure G (2002 &amp; 2007 Series A) 		2.0 – 7.5%		$9.8M</a:t>
            </a:r>
          </a:p>
          <a:p>
            <a:r>
              <a:rPr lang="en-US" dirty="0" smtClean="0"/>
              <a:t>Measure S (Series B)				4.04 – 5.6%		$28.6M</a:t>
            </a:r>
          </a:p>
          <a:p>
            <a:r>
              <a:rPr lang="en-US" dirty="0" smtClean="0"/>
              <a:t>Animal Shelter 2008				3.5 – 4.3%		$6.4M</a:t>
            </a:r>
          </a:p>
          <a:p>
            <a:r>
              <a:rPr lang="en-US" dirty="0" smtClean="0"/>
              <a:t>Branch Libraries 2009				1.25 – 5.3%		$9.3M</a:t>
            </a:r>
          </a:p>
          <a:p>
            <a:r>
              <a:rPr lang="en-US" dirty="0" smtClean="0"/>
              <a:t>Branch Libraries 2010				3.0 – 5.0%		$14.7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194795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2085" y="156387"/>
            <a:ext cx="3138112" cy="345347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2844" y="632298"/>
            <a:ext cx="4659548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Climate Action Goal</a:t>
            </a:r>
          </a:p>
          <a:p>
            <a:pPr marL="742950" lvl="1" indent="-285750">
              <a:buFont typeface="Arial" charset="0"/>
              <a:buChar char="•"/>
            </a:pPr>
            <a:r>
              <a:rPr lang="en-US" sz="2400" dirty="0" smtClean="0"/>
              <a:t>2050 reduce GHGs by 80%</a:t>
            </a:r>
          </a:p>
          <a:p>
            <a:pPr marL="742950" lvl="1" indent="-285750">
              <a:buFont typeface="Arial" charset="0"/>
              <a:buChar char="•"/>
            </a:pPr>
            <a:r>
              <a:rPr lang="en-US" sz="2400" dirty="0" smtClean="0"/>
              <a:t>Modest progress</a:t>
            </a:r>
          </a:p>
          <a:p>
            <a:pPr marL="742950" lvl="1" indent="-285750">
              <a:buFont typeface="Arial" charset="0"/>
              <a:buChar char="•"/>
            </a:pPr>
            <a:r>
              <a:rPr lang="en-US" sz="2400" dirty="0" smtClean="0"/>
              <a:t>Limited grant funding</a:t>
            </a:r>
            <a:endParaRPr lang="en-US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612844" y="4489830"/>
            <a:ext cx="4557735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Infrastructure </a:t>
            </a:r>
          </a:p>
          <a:p>
            <a:pPr marL="742950" lvl="1" indent="-285750">
              <a:buFont typeface="Arial" charset="0"/>
              <a:buChar char="•"/>
            </a:pPr>
            <a:r>
              <a:rPr lang="en-US" sz="2400" dirty="0" smtClean="0"/>
              <a:t>No Goal</a:t>
            </a:r>
          </a:p>
          <a:p>
            <a:pPr marL="742950" lvl="1" indent="-285750">
              <a:buFont typeface="Arial" charset="0"/>
              <a:buChar char="•"/>
            </a:pPr>
            <a:r>
              <a:rPr lang="en-US" sz="2400" dirty="0" smtClean="0"/>
              <a:t>No Plan</a:t>
            </a:r>
          </a:p>
          <a:p>
            <a:pPr marL="742950" lvl="1" indent="-285750">
              <a:buFont typeface="Arial" charset="0"/>
              <a:buChar char="•"/>
            </a:pPr>
            <a:r>
              <a:rPr lang="en-US" sz="2400" dirty="0" smtClean="0"/>
              <a:t>$100 M – Measure T1</a:t>
            </a:r>
            <a:endParaRPr lang="en-US" sz="2400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8979" y="3793254"/>
            <a:ext cx="4460672" cy="2930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95818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 smtClean="0">
                <a:solidFill>
                  <a:srgbClr val="7030A0"/>
                </a:solidFill>
              </a:rPr>
              <a:t>Infrastructure and Climate Change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3600" dirty="0" smtClean="0"/>
              <a:t>Use New Infrastructure </a:t>
            </a:r>
          </a:p>
          <a:p>
            <a:r>
              <a:rPr lang="en-US" sz="3600" dirty="0" smtClean="0"/>
              <a:t>to </a:t>
            </a:r>
          </a:p>
          <a:p>
            <a:r>
              <a:rPr lang="en-US" sz="3600" dirty="0" smtClean="0"/>
              <a:t>Meet Climate Action &amp; Resilience Goals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45841451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4779" y="339367"/>
            <a:ext cx="11698664" cy="6432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>
                <a:solidFill>
                  <a:srgbClr val="7030A0"/>
                </a:solidFill>
              </a:rPr>
              <a:t>City Coun</a:t>
            </a:r>
            <a:r>
              <a:rPr lang="en-US" sz="3200" dirty="0" smtClean="0">
                <a:solidFill>
                  <a:srgbClr val="7030A0"/>
                </a:solidFill>
              </a:rPr>
              <a:t>cil</a:t>
            </a:r>
          </a:p>
          <a:p>
            <a:pPr marL="342900" indent="-342900">
              <a:buAutoNum type="arabicPeriod"/>
            </a:pPr>
            <a:r>
              <a:rPr lang="en-US" sz="2400" dirty="0" smtClean="0"/>
              <a:t>Adopt goal of completely modernizing and greening Berkeley’s infrastructure by 2050</a:t>
            </a:r>
          </a:p>
          <a:p>
            <a:pPr marL="800100" lvl="1" indent="-342900">
              <a:buFont typeface="Arial" charset="0"/>
              <a:buChar char="•"/>
            </a:pPr>
            <a:r>
              <a:rPr lang="en-US" sz="2000" dirty="0" smtClean="0"/>
              <a:t>Aligns 100% infrastructure modernization with Climate Action Plan</a:t>
            </a:r>
          </a:p>
          <a:p>
            <a:pPr marL="800100" lvl="1" indent="-342900">
              <a:buFont typeface="Arial" charset="0"/>
              <a:buChar char="•"/>
            </a:pPr>
            <a:endParaRPr lang="en-US" sz="2400" dirty="0" smtClean="0"/>
          </a:p>
          <a:p>
            <a:r>
              <a:rPr lang="en-US" sz="2400" dirty="0" smtClean="0"/>
              <a:t>2.   Develop Vision for Infrastructure Plan for Berkeley2050</a:t>
            </a:r>
          </a:p>
          <a:p>
            <a:pPr marL="742950" lvl="1" indent="-285750">
              <a:buFont typeface="Arial" charset="0"/>
              <a:buChar char="•"/>
            </a:pPr>
            <a:r>
              <a:rPr lang="en-US" sz="2000" dirty="0" smtClean="0"/>
              <a:t>Green – lower carbon footprint</a:t>
            </a:r>
          </a:p>
          <a:p>
            <a:pPr marL="742950" lvl="1" indent="-285750">
              <a:buFont typeface="Arial" charset="0"/>
              <a:buChar char="•"/>
            </a:pPr>
            <a:r>
              <a:rPr lang="en-US" sz="2000" dirty="0" smtClean="0"/>
              <a:t>Durable – lower maintenance costs</a:t>
            </a:r>
          </a:p>
          <a:p>
            <a:pPr marL="742950" lvl="1" indent="-285750">
              <a:buFont typeface="Arial" charset="0"/>
              <a:buChar char="•"/>
            </a:pPr>
            <a:r>
              <a:rPr lang="en-US" sz="2000" dirty="0" smtClean="0"/>
              <a:t>Resilient and </a:t>
            </a:r>
            <a:r>
              <a:rPr lang="en-US" sz="2000" dirty="0" smtClean="0"/>
              <a:t>Beautiful City</a:t>
            </a:r>
            <a:endParaRPr lang="en-US" sz="2000" dirty="0" smtClean="0"/>
          </a:p>
          <a:p>
            <a:pPr marL="742950" lvl="1" indent="-285750">
              <a:buFont typeface="Arial" charset="0"/>
              <a:buChar char="•"/>
            </a:pPr>
            <a:r>
              <a:rPr lang="en-US" sz="2000" dirty="0" smtClean="0"/>
              <a:t>Undergrounding &amp; communication</a:t>
            </a:r>
          </a:p>
          <a:p>
            <a:pPr marL="742950" lvl="1" indent="-285750">
              <a:buFont typeface="Arial" charset="0"/>
              <a:buChar char="•"/>
            </a:pPr>
            <a:r>
              <a:rPr lang="en-US" sz="2000" dirty="0" smtClean="0"/>
              <a:t>Transportation</a:t>
            </a:r>
          </a:p>
          <a:p>
            <a:pPr marL="742950" lvl="1" indent="-285750">
              <a:buFont typeface="Arial" charset="0"/>
              <a:buChar char="•"/>
            </a:pPr>
            <a:r>
              <a:rPr lang="en-US" sz="2000" dirty="0" smtClean="0"/>
              <a:t>Water conservation &amp; flooding</a:t>
            </a:r>
          </a:p>
          <a:p>
            <a:pPr marL="742950" lvl="1" indent="-285750">
              <a:buFont typeface="Arial" charset="0"/>
              <a:buChar char="•"/>
            </a:pPr>
            <a:r>
              <a:rPr lang="en-US" sz="2000" dirty="0" smtClean="0"/>
              <a:t>Water Neutral by 2050</a:t>
            </a:r>
          </a:p>
          <a:p>
            <a:pPr marL="742950" lvl="1" indent="-285750">
              <a:buFont typeface="Arial" charset="0"/>
              <a:buChar char="•"/>
            </a:pPr>
            <a:r>
              <a:rPr lang="en-US" sz="2000" dirty="0" smtClean="0"/>
              <a:t>fiscally sustainable – savings accrue to infrastructure replacement fund</a:t>
            </a:r>
          </a:p>
          <a:p>
            <a:pPr marL="742950" lvl="1" indent="-285750">
              <a:buFont typeface="Arial" charset="0"/>
              <a:buChar char="•"/>
            </a:pPr>
            <a:r>
              <a:rPr lang="en-US" sz="2000" dirty="0" smtClean="0"/>
              <a:t>Meets CAP 2050 goals</a:t>
            </a:r>
          </a:p>
          <a:p>
            <a:pPr marL="742950" lvl="1" indent="-285750">
              <a:buFont typeface="Arial" charset="0"/>
              <a:buChar char="•"/>
            </a:pPr>
            <a:r>
              <a:rPr lang="en-US" sz="2000" dirty="0" smtClean="0"/>
              <a:t>Engage UCB in this planning effort</a:t>
            </a:r>
          </a:p>
          <a:p>
            <a:pPr marL="742950" lvl="1" indent="-285750">
              <a:buFont typeface="Arial" charset="0"/>
              <a:buChar char="•"/>
            </a:pPr>
            <a:endParaRPr lang="en-US" sz="2000" dirty="0" smtClean="0"/>
          </a:p>
          <a:p>
            <a:r>
              <a:rPr lang="en-US" sz="2400" dirty="0" smtClean="0"/>
              <a:t>3. Two examples –</a:t>
            </a:r>
          </a:p>
          <a:p>
            <a:pPr marL="742950" lvl="1" indent="-285750">
              <a:buFont typeface="Arial" charset="0"/>
              <a:buChar char="•"/>
            </a:pPr>
            <a:r>
              <a:rPr lang="en-US" sz="2000" dirty="0" smtClean="0"/>
              <a:t>Replacing streetlights with LEDs - $3 Million load (1%)</a:t>
            </a:r>
          </a:p>
          <a:p>
            <a:pPr marL="742950" lvl="1" indent="-285750">
              <a:buFont typeface="Arial" charset="0"/>
              <a:buChar char="•"/>
            </a:pPr>
            <a:r>
              <a:rPr lang="en-US" sz="2000" dirty="0" smtClean="0"/>
              <a:t>Branch library modernizations – resilient &amp; lower carbon footprint</a:t>
            </a:r>
          </a:p>
        </p:txBody>
      </p:sp>
    </p:spTree>
    <p:extLst>
      <p:ext uri="{BB962C8B-B14F-4D97-AF65-F5344CB8AC3E}">
        <p14:creationId xmlns:p14="http://schemas.microsoft.com/office/powerpoint/2010/main" val="7924984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39" b="27425"/>
          <a:stretch/>
        </p:blipFill>
        <p:spPr>
          <a:xfrm>
            <a:off x="1309816" y="733989"/>
            <a:ext cx="8521670" cy="598808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47568" y="255373"/>
            <a:ext cx="77847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/>
              <a:t>Berkeley, Sewage and San Francisco Bay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25720014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81296"/>
          </a:xfrm>
        </p:spPr>
        <p:txBody>
          <a:bodyPr>
            <a:normAutofit/>
          </a:bodyPr>
          <a:lstStyle/>
          <a:p>
            <a:pPr algn="ctr"/>
            <a:r>
              <a:rPr lang="en-US" sz="3600" dirty="0" smtClean="0"/>
              <a:t>COB </a:t>
            </a:r>
            <a:r>
              <a:rPr lang="en-US" sz="3600" dirty="0"/>
              <a:t>signs Consent </a:t>
            </a:r>
            <a:r>
              <a:rPr lang="en-US" sz="3600" dirty="0" smtClean="0"/>
              <a:t>Decree </a:t>
            </a:r>
            <a:r>
              <a:rPr lang="en-US" sz="3600" dirty="0"/>
              <a:t>with US EPA to stop the release of partially treated sewage into SF </a:t>
            </a:r>
            <a:r>
              <a:rPr lang="en-US" sz="3600" dirty="0" smtClean="0"/>
              <a:t>Bay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75935"/>
            <a:ext cx="10515600" cy="410102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smtClean="0"/>
              <a:t>2014 – Consent Decree requires COB</a:t>
            </a:r>
          </a:p>
          <a:p>
            <a:pPr lvl="1"/>
            <a:r>
              <a:rPr lang="en-US" dirty="0" smtClean="0"/>
              <a:t>Reduce inflow and infiltration</a:t>
            </a:r>
          </a:p>
          <a:p>
            <a:pPr lvl="1"/>
            <a:r>
              <a:rPr lang="en-US" dirty="0" smtClean="0"/>
              <a:t>Reduce sanitary sewer overflows</a:t>
            </a:r>
          </a:p>
          <a:p>
            <a:pPr lvl="1"/>
            <a:r>
              <a:rPr lang="en-US" dirty="0" smtClean="0"/>
              <a:t>Repair and replace aging sewer pipelines</a:t>
            </a:r>
          </a:p>
          <a:p>
            <a:pPr lvl="1"/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2026</a:t>
            </a:r>
          </a:p>
          <a:p>
            <a:pPr lvl="1"/>
            <a:r>
              <a:rPr lang="en-US" dirty="0" smtClean="0"/>
              <a:t>Replace 50 miles of sewer pipeline</a:t>
            </a:r>
          </a:p>
          <a:p>
            <a:pPr lvl="1"/>
            <a:r>
              <a:rPr lang="en-US" dirty="0" smtClean="0"/>
              <a:t>Replace all noncompliant manholes</a:t>
            </a:r>
          </a:p>
          <a:p>
            <a:pPr lvl="1"/>
            <a:r>
              <a:rPr lang="en-US" dirty="0" smtClean="0"/>
              <a:t>Perform condition assessment on 25 miles of sewer annually</a:t>
            </a:r>
          </a:p>
          <a:p>
            <a:pPr lvl="1"/>
            <a:r>
              <a:rPr lang="en-US" dirty="0" smtClean="0"/>
              <a:t>Increased required maintenance activities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098835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Berkeley’s Sanitary Sewer Service Rates</a:t>
            </a:r>
            <a:br>
              <a:rPr lang="en-US" dirty="0" smtClean="0"/>
            </a:br>
            <a:r>
              <a:rPr lang="en-US" sz="3200" dirty="0" smtClean="0"/>
              <a:t>(Adopted by Council in June 2015)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>
                <a:solidFill>
                  <a:srgbClr val="7030A0"/>
                </a:solidFill>
              </a:rPr>
              <a:t>Single Family</a:t>
            </a:r>
          </a:p>
          <a:p>
            <a:pPr marL="0" indent="0">
              <a:buNone/>
            </a:pPr>
            <a:r>
              <a:rPr lang="en-US" dirty="0" smtClean="0"/>
              <a:t>FY 2016	+46.0%</a:t>
            </a:r>
          </a:p>
          <a:p>
            <a:pPr marL="0" indent="0">
              <a:buNone/>
            </a:pPr>
            <a:r>
              <a:rPr lang="en-US" dirty="0" smtClean="0"/>
              <a:t>FY 2017	+24.2%</a:t>
            </a:r>
          </a:p>
          <a:p>
            <a:pPr marL="0" indent="0">
              <a:buNone/>
            </a:pPr>
            <a:r>
              <a:rPr lang="en-US" dirty="0" smtClean="0"/>
              <a:t>FY 2018	+14.2%</a:t>
            </a:r>
          </a:p>
          <a:p>
            <a:pPr marL="0" indent="0">
              <a:buNone/>
            </a:pPr>
            <a:r>
              <a:rPr lang="en-US" dirty="0" smtClean="0"/>
              <a:t>FY 2019	  +7.0%</a:t>
            </a:r>
          </a:p>
          <a:p>
            <a:pPr marL="0" indent="0">
              <a:buNone/>
            </a:pPr>
            <a:r>
              <a:rPr lang="en-US" dirty="0" smtClean="0"/>
              <a:t>FY 2020	  +3.6%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7030A0"/>
                </a:solidFill>
              </a:rPr>
              <a:t>Total 		+131%</a:t>
            </a:r>
            <a:r>
              <a:rPr lang="en-US" dirty="0" smtClean="0"/>
              <a:t>	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405873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9519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COB Proposed: Sanitary Sewer Capital Spending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25" y="1468877"/>
            <a:ext cx="5972375" cy="4786008"/>
          </a:xfrm>
        </p:spPr>
      </p:pic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6172199" y="1468877"/>
            <a:ext cx="5617723" cy="4708086"/>
          </a:xfrm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Capital Project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 smtClean="0"/>
              <a:t> </a:t>
            </a:r>
            <a:r>
              <a:rPr lang="en-US" sz="2400" dirty="0" smtClean="0"/>
              <a:t>~4 miles/</a:t>
            </a:r>
            <a:r>
              <a:rPr lang="en-US" sz="2400" dirty="0" err="1" smtClean="0"/>
              <a:t>yr</a:t>
            </a:r>
            <a:r>
              <a:rPr lang="en-US" sz="2400" dirty="0" smtClean="0"/>
              <a:t> of pipeline replacement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400" dirty="0" smtClean="0"/>
              <a:t>Fund with $100M Revenue bond – similar to new parking garage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400" dirty="0" smtClean="0"/>
              <a:t>Use sewer fee increase to pay bonds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 smtClean="0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Benefits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400" dirty="0" smtClean="0"/>
              <a:t>complete project in 5 vs 10 years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400" dirty="0" smtClean="0"/>
              <a:t>Less pollution in SF Bay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400" dirty="0" smtClean="0"/>
              <a:t>Lower maintenance costs?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400" dirty="0" smtClean="0"/>
              <a:t>Lower peak sewer fees?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 smtClean="0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67216337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1424401"/>
          </a:xfrm>
        </p:spPr>
        <p:txBody>
          <a:bodyPr/>
          <a:lstStyle/>
          <a:p>
            <a:pPr algn="ctr"/>
            <a:r>
              <a:rPr lang="en-US" smtClean="0"/>
              <a:t>Undergrounding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831850" y="4075043"/>
            <a:ext cx="10515600" cy="2014607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Utilities</a:t>
            </a:r>
          </a:p>
          <a:p>
            <a:pPr marL="342900" indent="-342900">
              <a:buFont typeface="Arial" charset="0"/>
              <a:buChar char="•"/>
            </a:pPr>
            <a:r>
              <a:rPr lang="en-US" dirty="0" smtClean="0"/>
              <a:t>Arterials + collectors - $135M</a:t>
            </a:r>
          </a:p>
          <a:p>
            <a:pPr marL="342900" indent="-342900">
              <a:buFont typeface="Arial" charset="0"/>
              <a:buChar char="•"/>
            </a:pPr>
            <a:r>
              <a:rPr lang="en-US" dirty="0" smtClean="0"/>
              <a:t>Residential streets - $600M</a:t>
            </a:r>
          </a:p>
          <a:p>
            <a:r>
              <a:rPr lang="en-US" dirty="0" smtClean="0"/>
              <a:t>Install fiber – Cost ??</a:t>
            </a:r>
          </a:p>
          <a:p>
            <a:r>
              <a:rPr lang="en-US" dirty="0" smtClean="0"/>
              <a:t>Add pedestrian scale streetlights – Cost??</a:t>
            </a:r>
          </a:p>
        </p:txBody>
      </p:sp>
    </p:spTree>
    <p:extLst>
      <p:ext uri="{BB962C8B-B14F-4D97-AF65-F5344CB8AC3E}">
        <p14:creationId xmlns:p14="http://schemas.microsoft.com/office/powerpoint/2010/main" val="93817949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677" y="0"/>
            <a:ext cx="5405215" cy="68580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5341" y="0"/>
            <a:ext cx="7115953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05085" y="4047459"/>
            <a:ext cx="623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fiber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3428535" y="4521988"/>
            <a:ext cx="381356" cy="237265"/>
          </a:xfrm>
          <a:prstGeom prst="straightConnector1">
            <a:avLst/>
          </a:prstGeom>
          <a:ln w="28575" cmpd="sng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221663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700" y="0"/>
            <a:ext cx="1063204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44374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387" y="508811"/>
            <a:ext cx="9652647" cy="6212816"/>
          </a:xfrm>
        </p:spPr>
      </p:pic>
    </p:spTree>
    <p:extLst>
      <p:ext uri="{BB962C8B-B14F-4D97-AF65-F5344CB8AC3E}">
        <p14:creationId xmlns:p14="http://schemas.microsoft.com/office/powerpoint/2010/main" val="83405871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52" t="2284" r="4981" b="12312"/>
          <a:stretch/>
        </p:blipFill>
        <p:spPr>
          <a:xfrm>
            <a:off x="378941" y="799070"/>
            <a:ext cx="5840628" cy="585710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4379" y="156519"/>
            <a:ext cx="49097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/>
              <a:t>Undergrounding: San Diego</a:t>
            </a:r>
            <a:endParaRPr lang="en-US" sz="2800" dirty="0"/>
          </a:p>
        </p:txBody>
      </p:sp>
      <p:sp>
        <p:nvSpPr>
          <p:cNvPr id="7" name="TextBox 6"/>
          <p:cNvSpPr txBox="1"/>
          <p:nvPr/>
        </p:nvSpPr>
        <p:spPr>
          <a:xfrm>
            <a:off x="6889173" y="2556163"/>
            <a:ext cx="472786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r>
              <a:rPr lang="en-US" dirty="0" smtClean="0"/>
              <a:t>Utility Users Tax (7.5%)  </a:t>
            </a:r>
            <a:r>
              <a:rPr lang="en-US" dirty="0" smtClean="0">
                <a:sym typeface="Wingdings"/>
              </a:rPr>
              <a:t>  ~$14.5 million/</a:t>
            </a:r>
            <a:r>
              <a:rPr lang="en-US" dirty="0" err="1" smtClean="0">
                <a:sym typeface="Wingdings"/>
              </a:rPr>
              <a:t>yr</a:t>
            </a:r>
            <a:endParaRPr lang="en-US" dirty="0" smtClean="0">
              <a:sym typeface="Wingdings"/>
            </a:endParaRPr>
          </a:p>
          <a:p>
            <a:endParaRPr lang="en-US" dirty="0">
              <a:sym typeface="Wingdings"/>
            </a:endParaRPr>
          </a:p>
          <a:p>
            <a:r>
              <a:rPr lang="en-US" dirty="0" smtClean="0">
                <a:sym typeface="Wingdings"/>
              </a:rPr>
              <a:t>Increase UUT 2.5% to 10.0%  ~4.7M/</a:t>
            </a:r>
            <a:r>
              <a:rPr lang="en-US" dirty="0" err="1" smtClean="0">
                <a:sym typeface="Wingdings"/>
              </a:rPr>
              <a:t>yr</a:t>
            </a:r>
            <a:endParaRPr lang="en-US" dirty="0" smtClean="0">
              <a:sym typeface="Wingdings"/>
            </a:endParaRPr>
          </a:p>
          <a:p>
            <a:endParaRPr lang="en-US" dirty="0">
              <a:sym typeface="Wingdings"/>
            </a:endParaRPr>
          </a:p>
          <a:p>
            <a:r>
              <a:rPr lang="en-US" dirty="0" smtClean="0">
                <a:sym typeface="Wingdings"/>
              </a:rPr>
              <a:t>Issue $135 million of Revenue Bonds</a:t>
            </a:r>
          </a:p>
          <a:p>
            <a:r>
              <a:rPr lang="en-US" dirty="0">
                <a:sym typeface="Wingdings"/>
              </a:rPr>
              <a:t> </a:t>
            </a:r>
            <a:r>
              <a:rPr lang="en-US" dirty="0" smtClean="0">
                <a:sym typeface="Wingdings"/>
              </a:rPr>
              <a:t>*  Finance RBs with income stream from UUT</a:t>
            </a:r>
          </a:p>
          <a:p>
            <a:endParaRPr lang="en-US" dirty="0">
              <a:sym typeface="Wingdings"/>
            </a:endParaRPr>
          </a:p>
          <a:p>
            <a:r>
              <a:rPr lang="en-US" dirty="0" smtClean="0">
                <a:sym typeface="Wingdings"/>
              </a:rPr>
              <a:t>Negotiate with PG&amp;E and other utilities for cost sharing</a:t>
            </a:r>
          </a:p>
          <a:p>
            <a:endParaRPr lang="en-US" dirty="0">
              <a:sym typeface="Wingdings"/>
            </a:endParaRPr>
          </a:p>
          <a:p>
            <a:r>
              <a:rPr lang="en-US" dirty="0" smtClean="0">
                <a:sym typeface="Wingdings"/>
              </a:rPr>
              <a:t>Install conduit and fiber optic cable</a:t>
            </a:r>
          </a:p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6889173" y="405245"/>
            <a:ext cx="4507697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/>
              <a:t>Berkeley Undergrounding</a:t>
            </a:r>
          </a:p>
          <a:p>
            <a:endParaRPr lang="en-US" dirty="0"/>
          </a:p>
          <a:p>
            <a:r>
              <a:rPr lang="en-US" dirty="0" smtClean="0"/>
              <a:t>37.9 miles of Arterial and Collector streets</a:t>
            </a:r>
          </a:p>
          <a:p>
            <a:pPr marL="342900" indent="-342900">
              <a:buAutoNum type="arabicPeriod"/>
            </a:pPr>
            <a:r>
              <a:rPr lang="en-US" dirty="0" smtClean="0">
                <a:solidFill>
                  <a:srgbClr val="7030A0"/>
                </a:solidFill>
              </a:rPr>
              <a:t>Finance undergrounding with increase in UUT. </a:t>
            </a:r>
          </a:p>
          <a:p>
            <a:pPr marL="342900" indent="-342900">
              <a:buAutoNum type="arabicPeriod"/>
            </a:pPr>
            <a:r>
              <a:rPr lang="en-US" dirty="0" smtClean="0">
                <a:solidFill>
                  <a:srgbClr val="7030A0"/>
                </a:solidFill>
              </a:rPr>
              <a:t>Dedicate 2.5% of existing UUT to residential undergrounding</a:t>
            </a:r>
          </a:p>
        </p:txBody>
      </p:sp>
    </p:spTree>
    <p:extLst>
      <p:ext uri="{BB962C8B-B14F-4D97-AF65-F5344CB8AC3E}">
        <p14:creationId xmlns:p14="http://schemas.microsoft.com/office/powerpoint/2010/main" val="108482910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mtClean="0"/>
              <a:t>Residential Streets???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 smtClean="0"/>
              <a:t>150 miles of residential streets</a:t>
            </a:r>
          </a:p>
          <a:p>
            <a:pPr lvl="1"/>
            <a:r>
              <a:rPr lang="en-US" dirty="0" smtClean="0"/>
              <a:t>~$600 million to underground</a:t>
            </a:r>
          </a:p>
          <a:p>
            <a:pPr marL="0" indent="0">
              <a:buNone/>
            </a:pPr>
            <a:r>
              <a:rPr lang="en-US" dirty="0" smtClean="0"/>
              <a:t>Cost Reduction</a:t>
            </a:r>
          </a:p>
          <a:p>
            <a:pPr lvl="1"/>
            <a:r>
              <a:rPr lang="en-US" dirty="0" smtClean="0"/>
              <a:t>Work with Utilities to partially finance undergrounding costs</a:t>
            </a:r>
          </a:p>
          <a:p>
            <a:pPr lvl="1"/>
            <a:r>
              <a:rPr lang="en-US" dirty="0" smtClean="0"/>
              <a:t>Energy Conservation model (PG&amp;E)</a:t>
            </a:r>
          </a:p>
          <a:p>
            <a:pPr lvl="1"/>
            <a:endParaRPr lang="en-US" dirty="0" smtClean="0"/>
          </a:p>
          <a:p>
            <a:pPr marL="0" indent="0">
              <a:buNone/>
            </a:pPr>
            <a:r>
              <a:rPr lang="en-US" dirty="0" smtClean="0">
                <a:solidFill>
                  <a:srgbClr val="00B0F0"/>
                </a:solidFill>
              </a:rPr>
              <a:t>2018 Ballot Measure: increase UUT 7.5</a:t>
            </a:r>
            <a:r>
              <a:rPr lang="en-US" dirty="0">
                <a:solidFill>
                  <a:srgbClr val="00B0F0"/>
                </a:solidFill>
              </a:rPr>
              <a:t>% to 10%</a:t>
            </a:r>
          </a:p>
          <a:p>
            <a:r>
              <a:rPr lang="en-US" dirty="0"/>
              <a:t>City Council </a:t>
            </a:r>
            <a:r>
              <a:rPr lang="en-US" dirty="0" smtClean="0"/>
              <a:t>-&gt; Sweeter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 smtClean="0"/>
              <a:t>Sweeter - dedicate </a:t>
            </a:r>
            <a:r>
              <a:rPr lang="en-US" dirty="0"/>
              <a:t>2.5% from the existing 7.5% to underground residential </a:t>
            </a:r>
            <a:r>
              <a:rPr lang="en-US" dirty="0" smtClean="0"/>
              <a:t>areas.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 smtClean="0"/>
              <a:t>Creates additional revenue stream of ~$4.7M/</a:t>
            </a:r>
            <a:r>
              <a:rPr lang="en-US" dirty="0" err="1" smtClean="0"/>
              <a:t>yr</a:t>
            </a:r>
            <a:endParaRPr lang="en-US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dirty="0" smtClean="0"/>
              <a:t>Issue ~$135M in Revenue Bonds</a:t>
            </a: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175812" y="10668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60584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Building Seismic &amp; Energy Retrofits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156365"/>
            <a:ext cx="10515600" cy="1933286"/>
          </a:xfrm>
        </p:spPr>
        <p:txBody>
          <a:bodyPr>
            <a:normAutofit/>
          </a:bodyPr>
          <a:lstStyle/>
          <a:p>
            <a:r>
              <a:rPr lang="en-US" dirty="0" smtClean="0"/>
              <a:t>Single Family – incentivize energy retrofits, water conservation, storm water capture, solar + battery backups</a:t>
            </a:r>
          </a:p>
          <a:p>
            <a:r>
              <a:rPr lang="en-US" dirty="0" smtClean="0"/>
              <a:t>Transfer Tax – seismic rebate – expand to cover energy efficiency &amp; water conservation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660430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Water Neutral by 2050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Water capture</a:t>
            </a:r>
          </a:p>
          <a:p>
            <a:r>
              <a:rPr lang="en-US" dirty="0" smtClean="0"/>
              <a:t>Drought</a:t>
            </a:r>
          </a:p>
          <a:p>
            <a:r>
              <a:rPr lang="en-US" dirty="0" smtClean="0"/>
              <a:t>Reduce Flooding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859160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737" y="3812177"/>
            <a:ext cx="3839270" cy="287945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1989" y="920844"/>
            <a:ext cx="3622765" cy="271707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0616" y="968039"/>
            <a:ext cx="4598127" cy="266987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2023" y="3812177"/>
            <a:ext cx="3875314" cy="290648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663336" y="209006"/>
            <a:ext cx="77549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/>
              <a:t>Flooding in Berkeley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00788012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40" y="1090022"/>
            <a:ext cx="6467203" cy="524356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1029" y="276254"/>
            <a:ext cx="4759960" cy="634661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05394" y="365760"/>
            <a:ext cx="47810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/>
              <a:t>Water Neutral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88007035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645" y="585971"/>
            <a:ext cx="10433601" cy="6093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67014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0891" y="1402080"/>
            <a:ext cx="525502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sz="2400" dirty="0"/>
              <a:t>Permeable Pavers – special bond issue</a:t>
            </a:r>
          </a:p>
          <a:p>
            <a:pPr marL="285750" indent="-285750">
              <a:buFont typeface="Arial" charset="0"/>
              <a:buChar char="•"/>
            </a:pPr>
            <a:r>
              <a:rPr lang="en-US" sz="2400" dirty="0"/>
              <a:t>Water retention and capture systems</a:t>
            </a:r>
          </a:p>
          <a:p>
            <a:pPr marL="285750" indent="-285750">
              <a:buFont typeface="Arial" charset="0"/>
              <a:buChar char="•"/>
            </a:pPr>
            <a:r>
              <a:rPr lang="en-US" sz="2400" dirty="0"/>
              <a:t>Work with EBMUD</a:t>
            </a:r>
          </a:p>
          <a:p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679269" y="444137"/>
            <a:ext cx="17972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>
                <a:solidFill>
                  <a:srgbClr val="0070C0"/>
                </a:solidFill>
              </a:rPr>
              <a:t>Flooding</a:t>
            </a:r>
            <a:endParaRPr lang="en-US" sz="3600" dirty="0">
              <a:solidFill>
                <a:srgbClr val="0070C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70857" y="3091543"/>
            <a:ext cx="17168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>
                <a:solidFill>
                  <a:srgbClr val="0070C0"/>
                </a:solidFill>
              </a:rPr>
              <a:t>Drought</a:t>
            </a:r>
            <a:endParaRPr lang="en-US" sz="3600" dirty="0">
              <a:solidFill>
                <a:srgbClr val="0070C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09897" y="3927566"/>
            <a:ext cx="9566530" cy="18466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sz="2400" dirty="0"/>
              <a:t>Residential storm water storage</a:t>
            </a:r>
          </a:p>
          <a:p>
            <a:pPr marL="285750" indent="-285750">
              <a:buFont typeface="Arial" charset="0"/>
              <a:buChar char="•"/>
            </a:pPr>
            <a:r>
              <a:rPr lang="en-US" sz="2400" dirty="0"/>
              <a:t>New multiunit buildings – require onsite storm water capture &amp; storage</a:t>
            </a:r>
          </a:p>
          <a:p>
            <a:pPr marL="285750" indent="-285750">
              <a:buFont typeface="Arial" charset="0"/>
              <a:buChar char="•"/>
            </a:pPr>
            <a:r>
              <a:rPr lang="en-US" sz="2400" dirty="0"/>
              <a:t>Transfer tax – seismic rebate – expand to cover water &amp; energy efficiency</a:t>
            </a:r>
          </a:p>
          <a:p>
            <a:pPr marL="285750" indent="-285750">
              <a:buFont typeface="Arial" charset="0"/>
              <a:buChar char="•"/>
            </a:pPr>
            <a:r>
              <a:rPr lang="en-US" sz="2400" dirty="0"/>
              <a:t>Work with EBMUD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27062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2172" y="285260"/>
            <a:ext cx="8821782" cy="633716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2880" y="687977"/>
            <a:ext cx="263501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>
                <a:solidFill>
                  <a:srgbClr val="0070C0"/>
                </a:solidFill>
              </a:rPr>
              <a:t>Transportation</a:t>
            </a:r>
            <a:endParaRPr lang="en-US" sz="3200" dirty="0">
              <a:solidFill>
                <a:srgbClr val="0070C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8376" y="1915886"/>
            <a:ext cx="2995749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sz="2400" dirty="0"/>
              <a:t>Self driving vehicles</a:t>
            </a:r>
          </a:p>
          <a:p>
            <a:pPr marL="285750" indent="-285750">
              <a:buFont typeface="Arial" charset="0"/>
              <a:buChar char="•"/>
            </a:pPr>
            <a:r>
              <a:rPr lang="en-US" sz="2400" dirty="0"/>
              <a:t>Separated Bike Lanes</a:t>
            </a:r>
          </a:p>
          <a:p>
            <a:pPr marL="285750" indent="-285750">
              <a:buFont typeface="Arial" charset="0"/>
              <a:buChar char="•"/>
            </a:pPr>
            <a:r>
              <a:rPr lang="en-US" sz="2400" dirty="0"/>
              <a:t>Free shuttle buses</a:t>
            </a:r>
          </a:p>
          <a:p>
            <a:pPr marL="285750" indent="-285750">
              <a:buFont typeface="Arial" charset="0"/>
              <a:buChar char="•"/>
            </a:pPr>
            <a:r>
              <a:rPr lang="en-US" sz="2400" dirty="0"/>
              <a:t>Car Share</a:t>
            </a:r>
          </a:p>
          <a:p>
            <a:pPr marL="285750" indent="-285750">
              <a:buFont typeface="Arial" charset="0"/>
              <a:buChar char="•"/>
            </a:pPr>
            <a:r>
              <a:rPr lang="en-US" sz="2400" dirty="0"/>
              <a:t>Electric charging stations on street lights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01804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1596679"/>
          </a:xfrm>
        </p:spPr>
        <p:txBody>
          <a:bodyPr/>
          <a:lstStyle/>
          <a:p>
            <a:pPr algn="ctr"/>
            <a:r>
              <a:rPr lang="en-US" dirty="0" smtClean="0"/>
              <a:t>Resilience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3988905"/>
            <a:ext cx="10515600" cy="2100746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lang="en-US" dirty="0" smtClean="0"/>
              <a:t>New modern infrastructure will improve Berkeley’s resilience</a:t>
            </a:r>
          </a:p>
          <a:p>
            <a:pPr marL="914400" lvl="1" indent="-457200">
              <a:buFont typeface="Arial" charset="0"/>
              <a:buChar char="•"/>
            </a:pPr>
            <a:r>
              <a:rPr lang="en-US" dirty="0" smtClean="0"/>
              <a:t>Reduce recovery cost of a major disaster</a:t>
            </a:r>
          </a:p>
          <a:p>
            <a:pPr marL="457200" indent="-457200">
              <a:buAutoNum type="arabicPeriod"/>
            </a:pPr>
            <a:r>
              <a:rPr lang="en-US" dirty="0" smtClean="0"/>
              <a:t>Approach Insurers about helping to fund new infrastructure</a:t>
            </a:r>
          </a:p>
          <a:p>
            <a:pPr marL="457200" indent="-457200">
              <a:buAutoNum type="arabicPeriod"/>
            </a:pPr>
            <a:r>
              <a:rPr lang="en-US" dirty="0" smtClean="0"/>
              <a:t>Federal Funds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554084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0200"/>
            <a:ext cx="12192000" cy="6194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79704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City Council Takeaways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en-US" sz="2400" dirty="0" smtClean="0"/>
              <a:t>Adopt </a:t>
            </a:r>
            <a:r>
              <a:rPr lang="en-US" sz="2400" dirty="0"/>
              <a:t>goal of completely modernizing and greening Berkeley’s infrastructure by 2050</a:t>
            </a:r>
          </a:p>
          <a:p>
            <a:pPr marL="800100" lvl="1" indent="-342900">
              <a:buFont typeface="Arial" charset="0"/>
              <a:buChar char="•"/>
            </a:pPr>
            <a:r>
              <a:rPr lang="en-US" sz="2000" dirty="0"/>
              <a:t>Aligns 100% infrastructure modernization with Climate Action </a:t>
            </a:r>
            <a:r>
              <a:rPr lang="en-US" sz="2000" dirty="0" smtClean="0"/>
              <a:t>Plan</a:t>
            </a:r>
            <a:endParaRPr lang="en-US" dirty="0"/>
          </a:p>
          <a:p>
            <a:pPr marL="0" indent="0">
              <a:buNone/>
            </a:pPr>
            <a:r>
              <a:rPr lang="en-US" sz="2400" dirty="0"/>
              <a:t>2.   Develop Vision for Infrastructure Plan for </a:t>
            </a:r>
            <a:r>
              <a:rPr lang="en-US" sz="2400" dirty="0" smtClean="0"/>
              <a:t>Berkeley2050</a:t>
            </a:r>
          </a:p>
          <a:p>
            <a:pPr lvl="1"/>
            <a:r>
              <a:rPr lang="en-US" sz="2000" dirty="0" smtClean="0"/>
              <a:t> </a:t>
            </a:r>
            <a:r>
              <a:rPr lang="en-US" sz="2000" dirty="0" err="1" smtClean="0"/>
              <a:t>UCBerkeley</a:t>
            </a:r>
            <a:endParaRPr lang="en-US" sz="2000" dirty="0"/>
          </a:p>
          <a:p>
            <a:pPr lvl="1"/>
            <a:r>
              <a:rPr lang="en-US" sz="2000" dirty="0" smtClean="0"/>
              <a:t>Berkeley Lab in part</a:t>
            </a:r>
          </a:p>
          <a:p>
            <a:pPr marL="457200" indent="-457200">
              <a:buAutoNum type="arabicPeriod" startAt="3"/>
            </a:pPr>
            <a:r>
              <a:rPr lang="en-US" sz="2400" dirty="0" smtClean="0"/>
              <a:t>Drought/Flooding</a:t>
            </a:r>
          </a:p>
          <a:p>
            <a:pPr lvl="1"/>
            <a:r>
              <a:rPr lang="en-US" sz="2000" dirty="0" smtClean="0"/>
              <a:t>EBMUD</a:t>
            </a:r>
          </a:p>
          <a:p>
            <a:pPr marL="457200" indent="-457200">
              <a:buAutoNum type="arabicPeriod" startAt="3"/>
            </a:pPr>
            <a:r>
              <a:rPr lang="en-US" sz="2400" dirty="0" smtClean="0"/>
              <a:t>Resilience</a:t>
            </a:r>
          </a:p>
          <a:p>
            <a:pPr lvl="1"/>
            <a:r>
              <a:rPr lang="en-US" sz="2000" dirty="0" smtClean="0"/>
              <a:t>Insurance Companies</a:t>
            </a:r>
          </a:p>
          <a:p>
            <a:pPr lvl="1"/>
            <a:r>
              <a:rPr lang="en-US" sz="2000" dirty="0" smtClean="0"/>
              <a:t>Utilities</a:t>
            </a:r>
            <a:endParaRPr lang="en-US" sz="2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180238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The End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60115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Rule 20A Funds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1517" y="1825625"/>
            <a:ext cx="7848965" cy="4351338"/>
          </a:xfrm>
        </p:spPr>
      </p:pic>
    </p:spTree>
    <p:extLst>
      <p:ext uri="{BB962C8B-B14F-4D97-AF65-F5344CB8AC3E}">
        <p14:creationId xmlns:p14="http://schemas.microsoft.com/office/powerpoint/2010/main" val="155837517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52500"/>
            <a:ext cx="12192000" cy="4935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0400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913</TotalTime>
  <Words>933</Words>
  <Application>Microsoft Macintosh PowerPoint</Application>
  <PresentationFormat>Custom</PresentationFormat>
  <Paragraphs>228</Paragraphs>
  <Slides>37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38" baseType="lpstr">
      <vt:lpstr>Office Theme</vt:lpstr>
      <vt:lpstr>Bonds, Refinancing, Infrastructure, Climate Change and Clean Water </vt:lpstr>
      <vt:lpstr>To Bond or Not to Bond? </vt:lpstr>
      <vt:lpstr>PowerPoint Presentation</vt:lpstr>
      <vt:lpstr>COB General Obligation (GO) Bonds (2000 – 2016)</vt:lpstr>
      <vt:lpstr>PowerPoint Presentation</vt:lpstr>
      <vt:lpstr>Why has Berkeley’s Debt Service Tax Rate Decreased and then stayed constant while $62 M in New Bonds were issued?</vt:lpstr>
      <vt:lpstr>Property Taxes:  141 Parkside Drive</vt:lpstr>
      <vt:lpstr>Comparison Taxes and Tax Rates for 2000/1 to 2016/17 (141 Parkside Drive)</vt:lpstr>
      <vt:lpstr>Annual Berkeley Property Taxes: FYs2011 -17 (average assessed value – 1900 ft2)</vt:lpstr>
      <vt:lpstr>PowerPoint Presentation</vt:lpstr>
      <vt:lpstr>Possible Bond Refinancing</vt:lpstr>
      <vt:lpstr>PowerPoint Presentation</vt:lpstr>
      <vt:lpstr> Infrastructure and Climate Change</vt:lpstr>
      <vt:lpstr>PowerPoint Presentation</vt:lpstr>
      <vt:lpstr>PowerPoint Presentation</vt:lpstr>
      <vt:lpstr>COB signs Consent Decree with US EPA to stop the release of partially treated sewage into SF Bay</vt:lpstr>
      <vt:lpstr>Berkeley’s Sanitary Sewer Service Rates (Adopted by Council in June 2015)</vt:lpstr>
      <vt:lpstr>COB Proposed: Sanitary Sewer Capital Spending</vt:lpstr>
      <vt:lpstr>Undergrounding</vt:lpstr>
      <vt:lpstr>PowerPoint Presentation</vt:lpstr>
      <vt:lpstr>PowerPoint Presentation</vt:lpstr>
      <vt:lpstr>PowerPoint Presentation</vt:lpstr>
      <vt:lpstr>PowerPoint Presentation</vt:lpstr>
      <vt:lpstr>Residential Streets???</vt:lpstr>
      <vt:lpstr>Building Seismic &amp; Energy Retrofits </vt:lpstr>
      <vt:lpstr>Water Neutral by 2050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Resilience</vt:lpstr>
      <vt:lpstr>PowerPoint Presentation</vt:lpstr>
      <vt:lpstr>City Council Takeaways</vt:lpstr>
      <vt:lpstr>The End</vt:lpstr>
      <vt:lpstr>Rule 20A Funds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Measure T1 &amp; Bond Refinancing</dc:title>
  <dc:creator>Gordon Wozniak</dc:creator>
  <cp:lastModifiedBy>Gordon Wozniak</cp:lastModifiedBy>
  <cp:revision>72</cp:revision>
  <cp:lastPrinted>2017-01-20T18:49:11Z</cp:lastPrinted>
  <dcterms:created xsi:type="dcterms:W3CDTF">2016-12-01T17:49:46Z</dcterms:created>
  <dcterms:modified xsi:type="dcterms:W3CDTF">2017-02-17T21:21:39Z</dcterms:modified>
</cp:coreProperties>
</file>